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ogart Bold" charset="1" panose="00000800000000000000"/>
      <p:regular r:id="rId16"/>
    </p:embeddedFont>
    <p:embeddedFont>
      <p:font typeface="Quicksand Semi-Bold" charset="1" panose="00000000000000000000"/>
      <p:regular r:id="rId17"/>
    </p:embeddedFont>
    <p:embeddedFont>
      <p:font typeface="Bogart" charset="1" panose="00000500000000000000"/>
      <p:regular r:id="rId18"/>
    </p:embeddedFont>
    <p:embeddedFont>
      <p:font typeface="Quicksand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21831" y="778374"/>
            <a:ext cx="14244338" cy="8730253"/>
            <a:chOff x="0" y="0"/>
            <a:chExt cx="5575106" cy="3416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5575429" cy="3414967"/>
            </a:xfrm>
            <a:custGeom>
              <a:avLst/>
              <a:gdLst/>
              <a:ahLst/>
              <a:cxnLst/>
              <a:rect r="r" b="b" t="t" l="l"/>
              <a:pathLst>
                <a:path h="3414967" w="5575429">
                  <a:moveTo>
                    <a:pt x="5564946" y="27234"/>
                  </a:moveTo>
                  <a:cubicBezTo>
                    <a:pt x="5556056" y="23424"/>
                    <a:pt x="5547166" y="20884"/>
                    <a:pt x="5538276" y="20884"/>
                  </a:cubicBezTo>
                  <a:cubicBezTo>
                    <a:pt x="5511606" y="19614"/>
                    <a:pt x="5429392" y="19614"/>
                    <a:pt x="5337320" y="17074"/>
                  </a:cubicBezTo>
                  <a:cubicBezTo>
                    <a:pt x="5126868" y="11994"/>
                    <a:pt x="4920802" y="5644"/>
                    <a:pt x="4710350" y="3104"/>
                  </a:cubicBezTo>
                  <a:cubicBezTo>
                    <a:pt x="4539358" y="564"/>
                    <a:pt x="4372751" y="3104"/>
                    <a:pt x="4201759" y="1834"/>
                  </a:cubicBezTo>
                  <a:cubicBezTo>
                    <a:pt x="4127224" y="1834"/>
                    <a:pt x="4052689" y="-706"/>
                    <a:pt x="3978154" y="1834"/>
                  </a:cubicBezTo>
                  <a:cubicBezTo>
                    <a:pt x="3798394" y="9454"/>
                    <a:pt x="3618633" y="10724"/>
                    <a:pt x="3434489" y="8184"/>
                  </a:cubicBezTo>
                  <a:cubicBezTo>
                    <a:pt x="3342416" y="6914"/>
                    <a:pt x="3250343" y="6914"/>
                    <a:pt x="3158271" y="6914"/>
                  </a:cubicBezTo>
                  <a:cubicBezTo>
                    <a:pt x="2991664" y="6914"/>
                    <a:pt x="2825056" y="6914"/>
                    <a:pt x="2658449" y="5644"/>
                  </a:cubicBezTo>
                  <a:cubicBezTo>
                    <a:pt x="2483073" y="4374"/>
                    <a:pt x="755618" y="1834"/>
                    <a:pt x="584626" y="564"/>
                  </a:cubicBezTo>
                  <a:cubicBezTo>
                    <a:pt x="444325" y="-706"/>
                    <a:pt x="308409" y="564"/>
                    <a:pt x="168108" y="564"/>
                  </a:cubicBezTo>
                  <a:cubicBezTo>
                    <a:pt x="71651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3869"/>
                    <a:pt x="16510" y="324544"/>
                    <a:pt x="17780" y="472575"/>
                  </a:cubicBezTo>
                  <a:cubicBezTo>
                    <a:pt x="19050" y="623250"/>
                    <a:pt x="17780" y="773924"/>
                    <a:pt x="16510" y="927242"/>
                  </a:cubicBezTo>
                  <a:cubicBezTo>
                    <a:pt x="15240" y="1083204"/>
                    <a:pt x="2540" y="2719478"/>
                    <a:pt x="2540" y="2875440"/>
                  </a:cubicBezTo>
                  <a:cubicBezTo>
                    <a:pt x="2540" y="3028758"/>
                    <a:pt x="1270" y="3182076"/>
                    <a:pt x="0" y="3335394"/>
                  </a:cubicBezTo>
                  <a:cubicBezTo>
                    <a:pt x="0" y="3360356"/>
                    <a:pt x="3810" y="3370516"/>
                    <a:pt x="15240" y="3375596"/>
                  </a:cubicBezTo>
                  <a:cubicBezTo>
                    <a:pt x="22860" y="3379406"/>
                    <a:pt x="31750" y="3381946"/>
                    <a:pt x="40640" y="3383216"/>
                  </a:cubicBezTo>
                  <a:cubicBezTo>
                    <a:pt x="163723" y="3388296"/>
                    <a:pt x="330331" y="3392106"/>
                    <a:pt x="496938" y="3397186"/>
                  </a:cubicBezTo>
                  <a:cubicBezTo>
                    <a:pt x="589010" y="3399726"/>
                    <a:pt x="681083" y="3404806"/>
                    <a:pt x="773155" y="3406076"/>
                  </a:cubicBezTo>
                  <a:cubicBezTo>
                    <a:pt x="926609" y="3408616"/>
                    <a:pt x="2636527" y="3409886"/>
                    <a:pt x="2789981" y="3411156"/>
                  </a:cubicBezTo>
                  <a:cubicBezTo>
                    <a:pt x="2811903" y="3411156"/>
                    <a:pt x="2833825" y="3411156"/>
                    <a:pt x="2855747" y="3411156"/>
                  </a:cubicBezTo>
                  <a:cubicBezTo>
                    <a:pt x="2960973" y="3411156"/>
                    <a:pt x="3070583" y="3409886"/>
                    <a:pt x="3175808" y="3409886"/>
                  </a:cubicBezTo>
                  <a:cubicBezTo>
                    <a:pt x="3298572" y="3409886"/>
                    <a:pt x="3416951" y="3411156"/>
                    <a:pt x="3539714" y="3411156"/>
                  </a:cubicBezTo>
                  <a:cubicBezTo>
                    <a:pt x="3719475" y="3411156"/>
                    <a:pt x="3903620" y="3411156"/>
                    <a:pt x="4083380" y="3411156"/>
                  </a:cubicBezTo>
                  <a:cubicBezTo>
                    <a:pt x="4249987" y="3411156"/>
                    <a:pt x="4416595" y="3412426"/>
                    <a:pt x="4583202" y="3413696"/>
                  </a:cubicBezTo>
                  <a:cubicBezTo>
                    <a:pt x="4657737" y="3413696"/>
                    <a:pt x="4736657" y="3414966"/>
                    <a:pt x="4811191" y="3414966"/>
                  </a:cubicBezTo>
                  <a:cubicBezTo>
                    <a:pt x="5052333" y="3413696"/>
                    <a:pt x="5289091" y="3407346"/>
                    <a:pt x="5515416" y="3407346"/>
                  </a:cubicBezTo>
                  <a:cubicBezTo>
                    <a:pt x="5519226" y="3407346"/>
                    <a:pt x="5524306" y="3404806"/>
                    <a:pt x="5528116" y="3402266"/>
                  </a:cubicBezTo>
                  <a:cubicBezTo>
                    <a:pt x="5533196" y="3398456"/>
                    <a:pt x="5535736" y="3392106"/>
                    <a:pt x="5538276" y="3389566"/>
                  </a:cubicBezTo>
                  <a:cubicBezTo>
                    <a:pt x="5539546" y="3316890"/>
                    <a:pt x="5540816" y="3205866"/>
                    <a:pt x="5542086" y="3094843"/>
                  </a:cubicBezTo>
                  <a:cubicBezTo>
                    <a:pt x="5543356" y="2923021"/>
                    <a:pt x="5553516" y="1273530"/>
                    <a:pt x="5554786" y="1101708"/>
                  </a:cubicBezTo>
                  <a:cubicBezTo>
                    <a:pt x="5554786" y="998614"/>
                    <a:pt x="5556056" y="895521"/>
                    <a:pt x="5557326" y="792428"/>
                  </a:cubicBezTo>
                  <a:cubicBezTo>
                    <a:pt x="5558596" y="681405"/>
                    <a:pt x="5559866" y="570381"/>
                    <a:pt x="5562406" y="459358"/>
                  </a:cubicBezTo>
                  <a:cubicBezTo>
                    <a:pt x="5563676" y="393272"/>
                    <a:pt x="5563676" y="324544"/>
                    <a:pt x="5568756" y="258458"/>
                  </a:cubicBezTo>
                  <a:cubicBezTo>
                    <a:pt x="5573836" y="179156"/>
                    <a:pt x="5576376" y="102497"/>
                    <a:pt x="5575106" y="43744"/>
                  </a:cubicBezTo>
                  <a:cubicBezTo>
                    <a:pt x="5575106" y="37394"/>
                    <a:pt x="5571296" y="29774"/>
                    <a:pt x="5564946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29622" y="3302471"/>
            <a:ext cx="13828968" cy="134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99"/>
              </a:lnSpc>
            </a:pPr>
            <a:r>
              <a:rPr lang="en-US" b="true" sz="5199" spc="-51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P</a:t>
            </a:r>
            <a:r>
              <a:rPr lang="en-US" b="true" sz="5199" spc="-51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enerapan Metode Pembangkit Bilangan Acak untuk Pemodelan Thalassemia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93482" y="5606250"/>
            <a:ext cx="3101036" cy="521168"/>
            <a:chOff x="0" y="0"/>
            <a:chExt cx="1787187" cy="300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564"/>
              <a:ext cx="1787510" cy="298383"/>
            </a:xfrm>
            <a:custGeom>
              <a:avLst/>
              <a:gdLst/>
              <a:ahLst/>
              <a:cxnLst/>
              <a:rect r="r" b="b" t="t" l="l"/>
              <a:pathLst>
                <a:path h="298383" w="1787510">
                  <a:moveTo>
                    <a:pt x="1777027" y="27234"/>
                  </a:moveTo>
                  <a:cubicBezTo>
                    <a:pt x="1768137" y="23424"/>
                    <a:pt x="1759247" y="20884"/>
                    <a:pt x="1750357" y="20884"/>
                  </a:cubicBezTo>
                  <a:cubicBezTo>
                    <a:pt x="1723687" y="19614"/>
                    <a:pt x="1697053" y="19614"/>
                    <a:pt x="1668962" y="17074"/>
                  </a:cubicBezTo>
                  <a:cubicBezTo>
                    <a:pt x="1604754" y="11994"/>
                    <a:pt x="1541884" y="5644"/>
                    <a:pt x="1477677" y="3104"/>
                  </a:cubicBezTo>
                  <a:cubicBezTo>
                    <a:pt x="1425508" y="564"/>
                    <a:pt x="1374677" y="3104"/>
                    <a:pt x="1322508" y="1834"/>
                  </a:cubicBezTo>
                  <a:cubicBezTo>
                    <a:pt x="1299768" y="1834"/>
                    <a:pt x="1277028" y="-706"/>
                    <a:pt x="1254288" y="1834"/>
                  </a:cubicBezTo>
                  <a:cubicBezTo>
                    <a:pt x="1199444" y="9454"/>
                    <a:pt x="1144600" y="10724"/>
                    <a:pt x="1088418" y="8184"/>
                  </a:cubicBezTo>
                  <a:cubicBezTo>
                    <a:pt x="1060327" y="6914"/>
                    <a:pt x="1032237" y="6914"/>
                    <a:pt x="1004146" y="6914"/>
                  </a:cubicBezTo>
                  <a:cubicBezTo>
                    <a:pt x="953315" y="6914"/>
                    <a:pt x="902484" y="6914"/>
                    <a:pt x="851653" y="5644"/>
                  </a:cubicBezTo>
                  <a:cubicBezTo>
                    <a:pt x="798147" y="4374"/>
                    <a:pt x="271109" y="1834"/>
                    <a:pt x="218941" y="564"/>
                  </a:cubicBezTo>
                  <a:cubicBezTo>
                    <a:pt x="176136" y="-706"/>
                    <a:pt x="134668" y="564"/>
                    <a:pt x="91863" y="564"/>
                  </a:cubicBezTo>
                  <a:cubicBezTo>
                    <a:pt x="62435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70809"/>
                    <a:pt x="16510" y="78598"/>
                    <a:pt x="17780" y="86250"/>
                  </a:cubicBezTo>
                  <a:cubicBezTo>
                    <a:pt x="19050" y="94039"/>
                    <a:pt x="17780" y="101827"/>
                    <a:pt x="16510" y="109753"/>
                  </a:cubicBezTo>
                  <a:cubicBezTo>
                    <a:pt x="15240" y="117815"/>
                    <a:pt x="2540" y="202399"/>
                    <a:pt x="2540" y="210462"/>
                  </a:cubicBezTo>
                  <a:cubicBezTo>
                    <a:pt x="2540" y="218387"/>
                    <a:pt x="1270" y="226313"/>
                    <a:pt x="0" y="234238"/>
                  </a:cubicBezTo>
                  <a:cubicBezTo>
                    <a:pt x="0" y="243773"/>
                    <a:pt x="3810" y="253933"/>
                    <a:pt x="15240" y="259013"/>
                  </a:cubicBezTo>
                  <a:cubicBezTo>
                    <a:pt x="22860" y="262823"/>
                    <a:pt x="31750" y="265363"/>
                    <a:pt x="40640" y="266633"/>
                  </a:cubicBezTo>
                  <a:cubicBezTo>
                    <a:pt x="90525" y="271713"/>
                    <a:pt x="141356" y="275523"/>
                    <a:pt x="192187" y="280603"/>
                  </a:cubicBezTo>
                  <a:cubicBezTo>
                    <a:pt x="220278" y="283143"/>
                    <a:pt x="248369" y="288223"/>
                    <a:pt x="276460" y="289493"/>
                  </a:cubicBezTo>
                  <a:cubicBezTo>
                    <a:pt x="323278" y="292033"/>
                    <a:pt x="844965" y="293303"/>
                    <a:pt x="891782" y="294573"/>
                  </a:cubicBezTo>
                  <a:cubicBezTo>
                    <a:pt x="898471" y="294573"/>
                    <a:pt x="905159" y="294573"/>
                    <a:pt x="911847" y="294573"/>
                  </a:cubicBezTo>
                  <a:cubicBezTo>
                    <a:pt x="943951" y="294573"/>
                    <a:pt x="977393" y="293303"/>
                    <a:pt x="1009496" y="293303"/>
                  </a:cubicBezTo>
                  <a:cubicBezTo>
                    <a:pt x="1046951" y="293303"/>
                    <a:pt x="1083068" y="294573"/>
                    <a:pt x="1120522" y="294573"/>
                  </a:cubicBezTo>
                  <a:cubicBezTo>
                    <a:pt x="1175366" y="294573"/>
                    <a:pt x="1231548" y="294573"/>
                    <a:pt x="1286392" y="294573"/>
                  </a:cubicBezTo>
                  <a:cubicBezTo>
                    <a:pt x="1337222" y="294573"/>
                    <a:pt x="1388054" y="295843"/>
                    <a:pt x="1438885" y="297113"/>
                  </a:cubicBezTo>
                  <a:cubicBezTo>
                    <a:pt x="1461625" y="297113"/>
                    <a:pt x="1485703" y="298383"/>
                    <a:pt x="1508443" y="298383"/>
                  </a:cubicBezTo>
                  <a:cubicBezTo>
                    <a:pt x="1582014" y="297113"/>
                    <a:pt x="1654247" y="290763"/>
                    <a:pt x="1727497" y="290763"/>
                  </a:cubicBezTo>
                  <a:cubicBezTo>
                    <a:pt x="1731307" y="290763"/>
                    <a:pt x="1736387" y="288223"/>
                    <a:pt x="1740197" y="285683"/>
                  </a:cubicBezTo>
                  <a:cubicBezTo>
                    <a:pt x="1745277" y="281873"/>
                    <a:pt x="1747817" y="275523"/>
                    <a:pt x="1750357" y="272983"/>
                  </a:cubicBezTo>
                  <a:cubicBezTo>
                    <a:pt x="1751627" y="233282"/>
                    <a:pt x="1752897" y="227542"/>
                    <a:pt x="1754167" y="221803"/>
                  </a:cubicBezTo>
                  <a:cubicBezTo>
                    <a:pt x="1755437" y="212921"/>
                    <a:pt x="1765597" y="127654"/>
                    <a:pt x="1766867" y="118772"/>
                  </a:cubicBezTo>
                  <a:cubicBezTo>
                    <a:pt x="1766867" y="113442"/>
                    <a:pt x="1768137" y="108113"/>
                    <a:pt x="1769407" y="102784"/>
                  </a:cubicBezTo>
                  <a:cubicBezTo>
                    <a:pt x="1770677" y="97045"/>
                    <a:pt x="1771947" y="91306"/>
                    <a:pt x="1774487" y="85567"/>
                  </a:cubicBezTo>
                  <a:cubicBezTo>
                    <a:pt x="1775757" y="82150"/>
                    <a:pt x="1775757" y="78598"/>
                    <a:pt x="1780837" y="75181"/>
                  </a:cubicBezTo>
                  <a:cubicBezTo>
                    <a:pt x="1785917" y="71082"/>
                    <a:pt x="1788457" y="67119"/>
                    <a:pt x="1787187" y="43744"/>
                  </a:cubicBezTo>
                  <a:cubicBezTo>
                    <a:pt x="1787187" y="37394"/>
                    <a:pt x="1783377" y="29774"/>
                    <a:pt x="1777027" y="27234"/>
                  </a:cubicBezTo>
                  <a:close/>
                </a:path>
              </a:pathLst>
            </a:custGeom>
            <a:solidFill>
              <a:srgbClr val="3E4A9D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813610">
            <a:off x="-250675" y="6307744"/>
            <a:ext cx="3853199" cy="4607086"/>
          </a:xfrm>
          <a:custGeom>
            <a:avLst/>
            <a:gdLst/>
            <a:ahLst/>
            <a:cxnLst/>
            <a:rect r="r" b="b" t="t" l="l"/>
            <a:pathLst>
              <a:path h="4607086" w="3853199">
                <a:moveTo>
                  <a:pt x="0" y="0"/>
                </a:moveTo>
                <a:lnTo>
                  <a:pt x="3853198" y="0"/>
                </a:lnTo>
                <a:lnTo>
                  <a:pt x="3853198" y="4607085"/>
                </a:lnTo>
                <a:lnTo>
                  <a:pt x="0" y="4607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26033">
            <a:off x="13859023" y="-249238"/>
            <a:ext cx="4176815" cy="3022495"/>
          </a:xfrm>
          <a:custGeom>
            <a:avLst/>
            <a:gdLst/>
            <a:ahLst/>
            <a:cxnLst/>
            <a:rect r="r" b="b" t="t" l="l"/>
            <a:pathLst>
              <a:path h="3022495" w="4176815">
                <a:moveTo>
                  <a:pt x="0" y="0"/>
                </a:moveTo>
                <a:lnTo>
                  <a:pt x="4176815" y="0"/>
                </a:lnTo>
                <a:lnTo>
                  <a:pt x="4176815" y="3022496"/>
                </a:lnTo>
                <a:lnTo>
                  <a:pt x="0" y="3022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199284">
            <a:off x="827530" y="231008"/>
            <a:ext cx="2370850" cy="2551796"/>
          </a:xfrm>
          <a:custGeom>
            <a:avLst/>
            <a:gdLst/>
            <a:ahLst/>
            <a:cxnLst/>
            <a:rect r="r" b="b" t="t" l="l"/>
            <a:pathLst>
              <a:path h="2551796" w="2370850">
                <a:moveTo>
                  <a:pt x="0" y="0"/>
                </a:moveTo>
                <a:lnTo>
                  <a:pt x="2370850" y="0"/>
                </a:lnTo>
                <a:lnTo>
                  <a:pt x="2370850" y="2551795"/>
                </a:lnTo>
                <a:lnTo>
                  <a:pt x="0" y="2551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312293">
            <a:off x="14857634" y="5102835"/>
            <a:ext cx="2274844" cy="2088720"/>
          </a:xfrm>
          <a:custGeom>
            <a:avLst/>
            <a:gdLst/>
            <a:ahLst/>
            <a:cxnLst/>
            <a:rect r="r" b="b" t="t" l="l"/>
            <a:pathLst>
              <a:path h="2088720" w="2274844">
                <a:moveTo>
                  <a:pt x="2274843" y="0"/>
                </a:moveTo>
                <a:lnTo>
                  <a:pt x="0" y="0"/>
                </a:lnTo>
                <a:lnTo>
                  <a:pt x="0" y="2088720"/>
                </a:lnTo>
                <a:lnTo>
                  <a:pt x="2274843" y="2088720"/>
                </a:lnTo>
                <a:lnTo>
                  <a:pt x="2274843" y="0"/>
                </a:lnTo>
                <a:close/>
              </a:path>
            </a:pathLst>
          </a:custGeom>
          <a:blipFill>
            <a:blip r:embed="rId10">
              <a:alphaModFix amt="82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77909" y="5710434"/>
            <a:ext cx="2132183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100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Kelompok 7 RB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4863923">
            <a:off x="1314678" y="3597056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531975">
            <a:off x="14285897" y="8153261"/>
            <a:ext cx="1329591" cy="1247748"/>
          </a:xfrm>
          <a:custGeom>
            <a:avLst/>
            <a:gdLst/>
            <a:ahLst/>
            <a:cxnLst/>
            <a:rect r="r" b="b" t="t" l="l"/>
            <a:pathLst>
              <a:path h="1247748" w="1329591">
                <a:moveTo>
                  <a:pt x="0" y="0"/>
                </a:moveTo>
                <a:lnTo>
                  <a:pt x="1329590" y="0"/>
                </a:lnTo>
                <a:lnTo>
                  <a:pt x="1329590" y="1247747"/>
                </a:lnTo>
                <a:lnTo>
                  <a:pt x="0" y="12477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44640">
            <a:off x="15434525" y="7659947"/>
            <a:ext cx="1121060" cy="1052053"/>
          </a:xfrm>
          <a:custGeom>
            <a:avLst/>
            <a:gdLst/>
            <a:ahLst/>
            <a:cxnLst/>
            <a:rect r="r" b="b" t="t" l="l"/>
            <a:pathLst>
              <a:path h="1052053" w="1121060">
                <a:moveTo>
                  <a:pt x="0" y="0"/>
                </a:moveTo>
                <a:lnTo>
                  <a:pt x="1121060" y="0"/>
                </a:lnTo>
                <a:lnTo>
                  <a:pt x="1121060" y="1052053"/>
                </a:lnTo>
                <a:lnTo>
                  <a:pt x="0" y="1052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39357" y="4844250"/>
            <a:ext cx="1269308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</a:pPr>
            <a:r>
              <a:rPr lang="en-US" sz="3000" spc="-30">
                <a:solidFill>
                  <a:srgbClr val="A2272C"/>
                </a:solidFill>
                <a:latin typeface="Bogart"/>
                <a:ea typeface="Bogart"/>
                <a:cs typeface="Bogart"/>
                <a:sym typeface="Bogart"/>
              </a:rPr>
              <a:t>Studi Kasus: Umu</a:t>
            </a:r>
            <a:r>
              <a:rPr lang="en-US" sz="3000" spc="-30">
                <a:solidFill>
                  <a:srgbClr val="A2272C"/>
                </a:solidFill>
                <a:latin typeface="Bogart"/>
                <a:ea typeface="Bogart"/>
                <a:cs typeface="Bogart"/>
                <a:sym typeface="Bogart"/>
              </a:rPr>
              <a:t>r Deteksi dan Asal Penyandang di Provinsi Lampung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45061" y="2306156"/>
            <a:ext cx="6397878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</a:pPr>
            <a:r>
              <a:rPr lang="en-US" sz="2100" spc="-21">
                <a:solidFill>
                  <a:srgbClr val="1F4A7A"/>
                </a:solidFill>
                <a:latin typeface="Bogart"/>
                <a:ea typeface="Bogart"/>
                <a:cs typeface="Bogart"/>
                <a:sym typeface="Bogart"/>
              </a:rPr>
              <a:t>TUGAS BESAR KOMPUTASI STATISTIKA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01020" y="6784643"/>
            <a:ext cx="3653114" cy="53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9"/>
              </a:lnSpc>
            </a:pPr>
            <a:r>
              <a:rPr lang="en-US" sz="1799" spc="-17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Anadia Carana (123450019)</a:t>
            </a:r>
          </a:p>
          <a:p>
            <a:pPr algn="just">
              <a:lnSpc>
                <a:spcPts val="800"/>
              </a:lnSpc>
            </a:pPr>
          </a:p>
          <a:p>
            <a:pPr algn="just" marL="0" indent="0" lvl="0">
              <a:lnSpc>
                <a:spcPts val="1799"/>
              </a:lnSpc>
            </a:pPr>
            <a:r>
              <a:rPr lang="en-US" sz="1799" spc="-17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Fadil Prasetyo A (123450048)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15251" y="6770925"/>
            <a:ext cx="3840778" cy="53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9"/>
              </a:lnSpc>
            </a:pPr>
            <a:r>
              <a:rPr lang="en-US" sz="1799" spc="-17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M. Hanif Dzaky (123450064)</a:t>
            </a:r>
          </a:p>
          <a:p>
            <a:pPr algn="just">
              <a:lnSpc>
                <a:spcPts val="800"/>
              </a:lnSpc>
            </a:pPr>
          </a:p>
          <a:p>
            <a:pPr algn="just" marL="0" indent="0" lvl="0">
              <a:lnSpc>
                <a:spcPts val="1799"/>
              </a:lnSpc>
            </a:pPr>
            <a:r>
              <a:rPr lang="en-US" sz="1799" spc="-17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Wan Nashwa A.Y. </a:t>
            </a:r>
            <a:r>
              <a:rPr lang="en-US" sz="1799" spc="-17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(123450077)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7910" y="8214548"/>
            <a:ext cx="6397878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9"/>
              </a:lnSpc>
            </a:pPr>
            <a:r>
              <a:rPr lang="en-US" sz="1599" spc="-15">
                <a:solidFill>
                  <a:srgbClr val="1F4A7A"/>
                </a:solidFill>
                <a:latin typeface="Bogart"/>
                <a:ea typeface="Bogart"/>
                <a:cs typeface="Bogart"/>
                <a:sym typeface="Bogart"/>
              </a:rPr>
              <a:t>Program Studi Sains Data - Institut Teknologi Sumatera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3472009"/>
            </a:xfrm>
            <a:custGeom>
              <a:avLst/>
              <a:gdLst/>
              <a:ahLst/>
              <a:cxnLst/>
              <a:rect r="r" b="b" t="t" l="l"/>
              <a:pathLst>
                <a:path h="3472009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5755"/>
                    <a:pt x="16510" y="329045"/>
                    <a:pt x="17780" y="479646"/>
                  </a:cubicBezTo>
                  <a:cubicBezTo>
                    <a:pt x="19050" y="632936"/>
                    <a:pt x="17780" y="786225"/>
                    <a:pt x="16510" y="942205"/>
                  </a:cubicBezTo>
                  <a:cubicBezTo>
                    <a:pt x="15240" y="1100873"/>
                    <a:pt x="2540" y="2765548"/>
                    <a:pt x="2540" y="2924216"/>
                  </a:cubicBezTo>
                  <a:cubicBezTo>
                    <a:pt x="2540" y="3080195"/>
                    <a:pt x="1270" y="3236174"/>
                    <a:pt x="0" y="3392153"/>
                  </a:cubicBezTo>
                  <a:cubicBezTo>
                    <a:pt x="0" y="3417398"/>
                    <a:pt x="3810" y="3427558"/>
                    <a:pt x="15240" y="3432638"/>
                  </a:cubicBezTo>
                  <a:cubicBezTo>
                    <a:pt x="22860" y="3436448"/>
                    <a:pt x="31750" y="3438988"/>
                    <a:pt x="40640" y="3440258"/>
                  </a:cubicBezTo>
                  <a:cubicBezTo>
                    <a:pt x="188388" y="3445338"/>
                    <a:pt x="394007" y="3449148"/>
                    <a:pt x="599625" y="3454228"/>
                  </a:cubicBezTo>
                  <a:cubicBezTo>
                    <a:pt x="713257" y="3456768"/>
                    <a:pt x="826888" y="3461848"/>
                    <a:pt x="940520" y="3463118"/>
                  </a:cubicBezTo>
                  <a:cubicBezTo>
                    <a:pt x="1129906" y="3465658"/>
                    <a:pt x="3240205" y="3466928"/>
                    <a:pt x="3429591" y="3468198"/>
                  </a:cubicBezTo>
                  <a:cubicBezTo>
                    <a:pt x="3456646" y="3468198"/>
                    <a:pt x="3483701" y="3468198"/>
                    <a:pt x="3510756" y="3468198"/>
                  </a:cubicBezTo>
                  <a:cubicBezTo>
                    <a:pt x="3640621" y="3468198"/>
                    <a:pt x="3775897" y="3466928"/>
                    <a:pt x="3905761" y="3466928"/>
                  </a:cubicBezTo>
                  <a:cubicBezTo>
                    <a:pt x="4057270" y="3466928"/>
                    <a:pt x="4203367" y="3468198"/>
                    <a:pt x="4354876" y="3468198"/>
                  </a:cubicBezTo>
                  <a:cubicBezTo>
                    <a:pt x="4576728" y="3468198"/>
                    <a:pt x="4803991" y="3468198"/>
                    <a:pt x="5025843" y="3468198"/>
                  </a:cubicBezTo>
                  <a:cubicBezTo>
                    <a:pt x="5231462" y="3468198"/>
                    <a:pt x="5437081" y="3469468"/>
                    <a:pt x="5642700" y="3470738"/>
                  </a:cubicBezTo>
                  <a:cubicBezTo>
                    <a:pt x="5734687" y="3470738"/>
                    <a:pt x="5832086" y="3472008"/>
                    <a:pt x="5924073" y="3472008"/>
                  </a:cubicBezTo>
                  <a:cubicBezTo>
                    <a:pt x="6221680" y="3470738"/>
                    <a:pt x="6513874" y="3464388"/>
                    <a:pt x="6791779" y="3464388"/>
                  </a:cubicBezTo>
                  <a:cubicBezTo>
                    <a:pt x="6795589" y="3464388"/>
                    <a:pt x="6800669" y="3461848"/>
                    <a:pt x="6804479" y="3459308"/>
                  </a:cubicBezTo>
                  <a:cubicBezTo>
                    <a:pt x="6809559" y="3455498"/>
                    <a:pt x="6812099" y="3449148"/>
                    <a:pt x="6814639" y="3446608"/>
                  </a:cubicBezTo>
                  <a:cubicBezTo>
                    <a:pt x="6815909" y="3373328"/>
                    <a:pt x="6817179" y="3260378"/>
                    <a:pt x="6818449" y="3147427"/>
                  </a:cubicBezTo>
                  <a:cubicBezTo>
                    <a:pt x="6819719" y="2972623"/>
                    <a:pt x="6829879" y="1294502"/>
                    <a:pt x="6831149" y="1119698"/>
                  </a:cubicBezTo>
                  <a:cubicBezTo>
                    <a:pt x="6831149" y="1014815"/>
                    <a:pt x="6832419" y="909933"/>
                    <a:pt x="6833689" y="805050"/>
                  </a:cubicBezTo>
                  <a:cubicBezTo>
                    <a:pt x="6834959" y="692100"/>
                    <a:pt x="6836229" y="579150"/>
                    <a:pt x="6838769" y="466199"/>
                  </a:cubicBezTo>
                  <a:cubicBezTo>
                    <a:pt x="6840039" y="398967"/>
                    <a:pt x="6840039" y="329045"/>
                    <a:pt x="6845119" y="261813"/>
                  </a:cubicBezTo>
                  <a:cubicBezTo>
                    <a:pt x="6850199" y="181134"/>
                    <a:pt x="6852739" y="10314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96774" y="4253766"/>
            <a:ext cx="6724795" cy="3993336"/>
            <a:chOff x="0" y="0"/>
            <a:chExt cx="3821347" cy="22692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564"/>
              <a:ext cx="3821671" cy="2267227"/>
            </a:xfrm>
            <a:custGeom>
              <a:avLst/>
              <a:gdLst/>
              <a:ahLst/>
              <a:cxnLst/>
              <a:rect r="r" b="b" t="t" l="l"/>
              <a:pathLst>
                <a:path h="2267227" w="3821671">
                  <a:moveTo>
                    <a:pt x="3811187" y="27234"/>
                  </a:moveTo>
                  <a:cubicBezTo>
                    <a:pt x="3802297" y="23424"/>
                    <a:pt x="3793407" y="20884"/>
                    <a:pt x="3784517" y="20884"/>
                  </a:cubicBezTo>
                  <a:cubicBezTo>
                    <a:pt x="3757847" y="19614"/>
                    <a:pt x="3701366" y="19614"/>
                    <a:pt x="3638916" y="17074"/>
                  </a:cubicBezTo>
                  <a:cubicBezTo>
                    <a:pt x="3496174" y="11994"/>
                    <a:pt x="3356405" y="5644"/>
                    <a:pt x="3213663" y="3104"/>
                  </a:cubicBezTo>
                  <a:cubicBezTo>
                    <a:pt x="3097685" y="564"/>
                    <a:pt x="2984681" y="3104"/>
                    <a:pt x="2868702" y="1834"/>
                  </a:cubicBezTo>
                  <a:cubicBezTo>
                    <a:pt x="2818148" y="1834"/>
                    <a:pt x="2767593" y="-706"/>
                    <a:pt x="2717038" y="1834"/>
                  </a:cubicBezTo>
                  <a:cubicBezTo>
                    <a:pt x="2595113" y="9454"/>
                    <a:pt x="2473187" y="10724"/>
                    <a:pt x="2348287" y="8184"/>
                  </a:cubicBezTo>
                  <a:cubicBezTo>
                    <a:pt x="2285838" y="6914"/>
                    <a:pt x="2223388" y="6914"/>
                    <a:pt x="2160938" y="6914"/>
                  </a:cubicBezTo>
                  <a:cubicBezTo>
                    <a:pt x="2047934" y="6914"/>
                    <a:pt x="1934930" y="6914"/>
                    <a:pt x="1821925" y="5644"/>
                  </a:cubicBezTo>
                  <a:cubicBezTo>
                    <a:pt x="1702973" y="4374"/>
                    <a:pt x="531296" y="1834"/>
                    <a:pt x="415318" y="564"/>
                  </a:cubicBezTo>
                  <a:cubicBezTo>
                    <a:pt x="320157" y="-706"/>
                    <a:pt x="227969" y="564"/>
                    <a:pt x="132807" y="564"/>
                  </a:cubicBezTo>
                  <a:cubicBezTo>
                    <a:pt x="67384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5915"/>
                    <a:pt x="16510" y="233969"/>
                    <a:pt x="17780" y="330303"/>
                  </a:cubicBezTo>
                  <a:cubicBezTo>
                    <a:pt x="19050" y="428358"/>
                    <a:pt x="17780" y="526412"/>
                    <a:pt x="16510" y="626187"/>
                  </a:cubicBezTo>
                  <a:cubicBezTo>
                    <a:pt x="15240" y="727681"/>
                    <a:pt x="2540" y="1792517"/>
                    <a:pt x="2540" y="1894012"/>
                  </a:cubicBezTo>
                  <a:cubicBezTo>
                    <a:pt x="2540" y="1993786"/>
                    <a:pt x="1270" y="2093561"/>
                    <a:pt x="0" y="2193335"/>
                  </a:cubicBezTo>
                  <a:cubicBezTo>
                    <a:pt x="0" y="2212616"/>
                    <a:pt x="3810" y="2222776"/>
                    <a:pt x="15240" y="2227857"/>
                  </a:cubicBezTo>
                  <a:cubicBezTo>
                    <a:pt x="22860" y="2231666"/>
                    <a:pt x="31750" y="2234207"/>
                    <a:pt x="40640" y="2235476"/>
                  </a:cubicBezTo>
                  <a:cubicBezTo>
                    <a:pt x="129834" y="2240557"/>
                    <a:pt x="242838" y="2244366"/>
                    <a:pt x="355842" y="2249446"/>
                  </a:cubicBezTo>
                  <a:cubicBezTo>
                    <a:pt x="418292" y="2251986"/>
                    <a:pt x="480742" y="2257066"/>
                    <a:pt x="543192" y="2258336"/>
                  </a:cubicBezTo>
                  <a:cubicBezTo>
                    <a:pt x="647274" y="2260876"/>
                    <a:pt x="1807056" y="2262146"/>
                    <a:pt x="1911139" y="2263416"/>
                  </a:cubicBezTo>
                  <a:cubicBezTo>
                    <a:pt x="1926008" y="2263416"/>
                    <a:pt x="1940877" y="2263416"/>
                    <a:pt x="1955746" y="2263416"/>
                  </a:cubicBezTo>
                  <a:cubicBezTo>
                    <a:pt x="2027117" y="2263416"/>
                    <a:pt x="2101462" y="2262146"/>
                    <a:pt x="2172833" y="2262146"/>
                  </a:cubicBezTo>
                  <a:cubicBezTo>
                    <a:pt x="2256100" y="2262146"/>
                    <a:pt x="2336392" y="2263416"/>
                    <a:pt x="2419659" y="2263416"/>
                  </a:cubicBezTo>
                  <a:cubicBezTo>
                    <a:pt x="2541584" y="2263416"/>
                    <a:pt x="2666484" y="2263416"/>
                    <a:pt x="2788410" y="2263416"/>
                  </a:cubicBezTo>
                  <a:cubicBezTo>
                    <a:pt x="2901414" y="2263416"/>
                    <a:pt x="3014418" y="2264686"/>
                    <a:pt x="3127423" y="2265957"/>
                  </a:cubicBezTo>
                  <a:cubicBezTo>
                    <a:pt x="3177977" y="2265957"/>
                    <a:pt x="3231506" y="2267226"/>
                    <a:pt x="3282060" y="2267226"/>
                  </a:cubicBezTo>
                  <a:cubicBezTo>
                    <a:pt x="3445619" y="2265957"/>
                    <a:pt x="3606204" y="2259607"/>
                    <a:pt x="3761657" y="2259607"/>
                  </a:cubicBezTo>
                  <a:cubicBezTo>
                    <a:pt x="3765467" y="2259607"/>
                    <a:pt x="3770547" y="2257066"/>
                    <a:pt x="3774357" y="2254526"/>
                  </a:cubicBezTo>
                  <a:cubicBezTo>
                    <a:pt x="3779437" y="2250716"/>
                    <a:pt x="3781977" y="2244366"/>
                    <a:pt x="3784517" y="2241826"/>
                  </a:cubicBezTo>
                  <a:cubicBezTo>
                    <a:pt x="3785787" y="2181293"/>
                    <a:pt x="3787057" y="2109043"/>
                    <a:pt x="3788327" y="2036793"/>
                  </a:cubicBezTo>
                  <a:cubicBezTo>
                    <a:pt x="3789597" y="1924976"/>
                    <a:pt x="3799757" y="851539"/>
                    <a:pt x="3801027" y="739723"/>
                  </a:cubicBezTo>
                  <a:cubicBezTo>
                    <a:pt x="3801027" y="672633"/>
                    <a:pt x="3802297" y="605544"/>
                    <a:pt x="3803567" y="538454"/>
                  </a:cubicBezTo>
                  <a:cubicBezTo>
                    <a:pt x="3804837" y="466203"/>
                    <a:pt x="3806107" y="393953"/>
                    <a:pt x="3808647" y="321702"/>
                  </a:cubicBezTo>
                  <a:cubicBezTo>
                    <a:pt x="3809917" y="278696"/>
                    <a:pt x="3809917" y="233969"/>
                    <a:pt x="3814997" y="190963"/>
                  </a:cubicBezTo>
                  <a:cubicBezTo>
                    <a:pt x="3820077" y="139356"/>
                    <a:pt x="3822617" y="89468"/>
                    <a:pt x="3821347" y="43744"/>
                  </a:cubicBezTo>
                  <a:cubicBezTo>
                    <a:pt x="3821347" y="37394"/>
                    <a:pt x="3817537" y="29774"/>
                    <a:pt x="3811187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66432" y="4290019"/>
            <a:ext cx="6724795" cy="3957083"/>
            <a:chOff x="0" y="0"/>
            <a:chExt cx="3821347" cy="22486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564"/>
              <a:ext cx="3821671" cy="2246626"/>
            </a:xfrm>
            <a:custGeom>
              <a:avLst/>
              <a:gdLst/>
              <a:ahLst/>
              <a:cxnLst/>
              <a:rect r="r" b="b" t="t" l="l"/>
              <a:pathLst>
                <a:path h="2246626" w="3821671">
                  <a:moveTo>
                    <a:pt x="3811187" y="27234"/>
                  </a:moveTo>
                  <a:cubicBezTo>
                    <a:pt x="3802297" y="23424"/>
                    <a:pt x="3793407" y="20884"/>
                    <a:pt x="3784517" y="20884"/>
                  </a:cubicBezTo>
                  <a:cubicBezTo>
                    <a:pt x="3757847" y="19614"/>
                    <a:pt x="3701366" y="19614"/>
                    <a:pt x="3638916" y="17074"/>
                  </a:cubicBezTo>
                  <a:cubicBezTo>
                    <a:pt x="3496174" y="11994"/>
                    <a:pt x="3356405" y="5644"/>
                    <a:pt x="3213663" y="3104"/>
                  </a:cubicBezTo>
                  <a:cubicBezTo>
                    <a:pt x="3097685" y="564"/>
                    <a:pt x="2984681" y="3104"/>
                    <a:pt x="2868702" y="1834"/>
                  </a:cubicBezTo>
                  <a:cubicBezTo>
                    <a:pt x="2818148" y="1834"/>
                    <a:pt x="2767593" y="-706"/>
                    <a:pt x="2717038" y="1834"/>
                  </a:cubicBezTo>
                  <a:cubicBezTo>
                    <a:pt x="2595113" y="9454"/>
                    <a:pt x="2473187" y="10724"/>
                    <a:pt x="2348287" y="8184"/>
                  </a:cubicBezTo>
                  <a:cubicBezTo>
                    <a:pt x="2285838" y="6914"/>
                    <a:pt x="2223388" y="6914"/>
                    <a:pt x="2160938" y="6914"/>
                  </a:cubicBezTo>
                  <a:cubicBezTo>
                    <a:pt x="2047934" y="6914"/>
                    <a:pt x="1934930" y="6914"/>
                    <a:pt x="1821925" y="5644"/>
                  </a:cubicBezTo>
                  <a:cubicBezTo>
                    <a:pt x="1702973" y="4374"/>
                    <a:pt x="531296" y="1834"/>
                    <a:pt x="415318" y="564"/>
                  </a:cubicBezTo>
                  <a:cubicBezTo>
                    <a:pt x="320157" y="-706"/>
                    <a:pt x="227969" y="564"/>
                    <a:pt x="132807" y="564"/>
                  </a:cubicBezTo>
                  <a:cubicBezTo>
                    <a:pt x="67384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5234"/>
                    <a:pt x="16510" y="232344"/>
                    <a:pt x="17780" y="327750"/>
                  </a:cubicBezTo>
                  <a:cubicBezTo>
                    <a:pt x="19050" y="424860"/>
                    <a:pt x="17780" y="521970"/>
                    <a:pt x="16510" y="620783"/>
                  </a:cubicBezTo>
                  <a:cubicBezTo>
                    <a:pt x="15240" y="721300"/>
                    <a:pt x="2540" y="1775879"/>
                    <a:pt x="2540" y="1876396"/>
                  </a:cubicBezTo>
                  <a:cubicBezTo>
                    <a:pt x="2540" y="1975210"/>
                    <a:pt x="1270" y="2074023"/>
                    <a:pt x="0" y="2172837"/>
                  </a:cubicBezTo>
                  <a:cubicBezTo>
                    <a:pt x="0" y="2192016"/>
                    <a:pt x="3810" y="2202176"/>
                    <a:pt x="15240" y="2207256"/>
                  </a:cubicBezTo>
                  <a:cubicBezTo>
                    <a:pt x="22860" y="2211066"/>
                    <a:pt x="31750" y="2213606"/>
                    <a:pt x="40640" y="2214876"/>
                  </a:cubicBezTo>
                  <a:cubicBezTo>
                    <a:pt x="129834" y="2219956"/>
                    <a:pt x="242838" y="2223766"/>
                    <a:pt x="355842" y="2228846"/>
                  </a:cubicBezTo>
                  <a:cubicBezTo>
                    <a:pt x="418292" y="2231386"/>
                    <a:pt x="480742" y="2236466"/>
                    <a:pt x="543192" y="2237736"/>
                  </a:cubicBezTo>
                  <a:cubicBezTo>
                    <a:pt x="647274" y="2240276"/>
                    <a:pt x="1807056" y="2241546"/>
                    <a:pt x="1911139" y="2242816"/>
                  </a:cubicBezTo>
                  <a:cubicBezTo>
                    <a:pt x="1926008" y="2242816"/>
                    <a:pt x="1940877" y="2242816"/>
                    <a:pt x="1955746" y="2242816"/>
                  </a:cubicBezTo>
                  <a:cubicBezTo>
                    <a:pt x="2027117" y="2242816"/>
                    <a:pt x="2101462" y="2241546"/>
                    <a:pt x="2172833" y="2241546"/>
                  </a:cubicBezTo>
                  <a:cubicBezTo>
                    <a:pt x="2256100" y="2241546"/>
                    <a:pt x="2336392" y="2242816"/>
                    <a:pt x="2419659" y="2242816"/>
                  </a:cubicBezTo>
                  <a:cubicBezTo>
                    <a:pt x="2541584" y="2242816"/>
                    <a:pt x="2666484" y="2242816"/>
                    <a:pt x="2788410" y="2242816"/>
                  </a:cubicBezTo>
                  <a:cubicBezTo>
                    <a:pt x="2901414" y="2242816"/>
                    <a:pt x="3014418" y="2244086"/>
                    <a:pt x="3127423" y="2245356"/>
                  </a:cubicBezTo>
                  <a:cubicBezTo>
                    <a:pt x="3177977" y="2245356"/>
                    <a:pt x="3231506" y="2246626"/>
                    <a:pt x="3282060" y="2246626"/>
                  </a:cubicBezTo>
                  <a:cubicBezTo>
                    <a:pt x="3445619" y="2245356"/>
                    <a:pt x="3606204" y="2239006"/>
                    <a:pt x="3761657" y="2239006"/>
                  </a:cubicBezTo>
                  <a:cubicBezTo>
                    <a:pt x="3765467" y="2239006"/>
                    <a:pt x="3770547" y="2236466"/>
                    <a:pt x="3774357" y="2233926"/>
                  </a:cubicBezTo>
                  <a:cubicBezTo>
                    <a:pt x="3779437" y="2230116"/>
                    <a:pt x="3781977" y="2223766"/>
                    <a:pt x="3784517" y="2221226"/>
                  </a:cubicBezTo>
                  <a:cubicBezTo>
                    <a:pt x="3785787" y="2160911"/>
                    <a:pt x="3787057" y="2089356"/>
                    <a:pt x="3788327" y="2017802"/>
                  </a:cubicBezTo>
                  <a:cubicBezTo>
                    <a:pt x="3789597" y="1907063"/>
                    <a:pt x="3799757" y="843965"/>
                    <a:pt x="3801027" y="733226"/>
                  </a:cubicBezTo>
                  <a:cubicBezTo>
                    <a:pt x="3801027" y="666782"/>
                    <a:pt x="3802297" y="600339"/>
                    <a:pt x="3803567" y="533895"/>
                  </a:cubicBezTo>
                  <a:cubicBezTo>
                    <a:pt x="3804837" y="462341"/>
                    <a:pt x="3806107" y="390786"/>
                    <a:pt x="3808647" y="319231"/>
                  </a:cubicBezTo>
                  <a:cubicBezTo>
                    <a:pt x="3809917" y="276639"/>
                    <a:pt x="3809917" y="232344"/>
                    <a:pt x="3814997" y="189752"/>
                  </a:cubicBezTo>
                  <a:cubicBezTo>
                    <a:pt x="3820077" y="138641"/>
                    <a:pt x="3822617" y="89234"/>
                    <a:pt x="3821347" y="43744"/>
                  </a:cubicBezTo>
                  <a:cubicBezTo>
                    <a:pt x="3821347" y="37394"/>
                    <a:pt x="3817537" y="29774"/>
                    <a:pt x="3811187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779195" y="3733809"/>
            <a:ext cx="3299268" cy="1039914"/>
            <a:chOff x="0" y="0"/>
            <a:chExt cx="4399024" cy="138655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399024" cy="1386552"/>
              <a:chOff x="0" y="0"/>
              <a:chExt cx="3236628" cy="10201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-564"/>
                <a:ext cx="3236952" cy="1018194"/>
              </a:xfrm>
              <a:custGeom>
                <a:avLst/>
                <a:gdLst/>
                <a:ahLst/>
                <a:cxnLst/>
                <a:rect r="r" b="b" t="t" l="l"/>
                <a:pathLst>
                  <a:path h="1018194" w="3236952">
                    <a:moveTo>
                      <a:pt x="3226468" y="27234"/>
                    </a:moveTo>
                    <a:cubicBezTo>
                      <a:pt x="3217578" y="23424"/>
                      <a:pt x="3208688" y="20884"/>
                      <a:pt x="3199798" y="20884"/>
                    </a:cubicBezTo>
                    <a:cubicBezTo>
                      <a:pt x="3173128" y="19614"/>
                      <a:pt x="3125226" y="19614"/>
                      <a:pt x="3072653" y="17074"/>
                    </a:cubicBezTo>
                    <a:cubicBezTo>
                      <a:pt x="2952486" y="11994"/>
                      <a:pt x="2834822" y="5644"/>
                      <a:pt x="2714654" y="3104"/>
                    </a:cubicBezTo>
                    <a:cubicBezTo>
                      <a:pt x="2617018" y="564"/>
                      <a:pt x="2521885" y="3104"/>
                      <a:pt x="2424249" y="1834"/>
                    </a:cubicBezTo>
                    <a:cubicBezTo>
                      <a:pt x="2381690" y="1834"/>
                      <a:pt x="2339130" y="-706"/>
                      <a:pt x="2296571" y="1834"/>
                    </a:cubicBezTo>
                    <a:cubicBezTo>
                      <a:pt x="2193928" y="9454"/>
                      <a:pt x="2091285" y="10724"/>
                      <a:pt x="1986138" y="8184"/>
                    </a:cubicBezTo>
                    <a:cubicBezTo>
                      <a:pt x="1933565" y="6914"/>
                      <a:pt x="1880992" y="6914"/>
                      <a:pt x="1828418" y="6914"/>
                    </a:cubicBezTo>
                    <a:cubicBezTo>
                      <a:pt x="1733286" y="6914"/>
                      <a:pt x="1638153" y="6914"/>
                      <a:pt x="1543021" y="5644"/>
                    </a:cubicBezTo>
                    <a:cubicBezTo>
                      <a:pt x="1442881" y="4374"/>
                      <a:pt x="456506" y="1834"/>
                      <a:pt x="358870" y="564"/>
                    </a:cubicBezTo>
                    <a:cubicBezTo>
                      <a:pt x="278758" y="-706"/>
                      <a:pt x="201150" y="564"/>
                      <a:pt x="121038" y="564"/>
                    </a:cubicBezTo>
                    <a:cubicBezTo>
                      <a:pt x="65961" y="564"/>
                      <a:pt x="33020" y="3104"/>
                      <a:pt x="5080" y="4374"/>
                    </a:cubicBezTo>
                    <a:cubicBezTo>
                      <a:pt x="3810" y="4374"/>
                      <a:pt x="2540" y="6914"/>
                      <a:pt x="0" y="8184"/>
                    </a:cubicBezTo>
                    <a:cubicBezTo>
                      <a:pt x="1270" y="20884"/>
                      <a:pt x="3810" y="33584"/>
                      <a:pt x="5080" y="46284"/>
                    </a:cubicBezTo>
                    <a:cubicBezTo>
                      <a:pt x="15240" y="94612"/>
                      <a:pt x="16510" y="135402"/>
                      <a:pt x="17780" y="175476"/>
                    </a:cubicBezTo>
                    <a:cubicBezTo>
                      <a:pt x="19050" y="216266"/>
                      <a:pt x="17780" y="257056"/>
                      <a:pt x="16510" y="298562"/>
                    </a:cubicBezTo>
                    <a:cubicBezTo>
                      <a:pt x="15240" y="340783"/>
                      <a:pt x="2540" y="783748"/>
                      <a:pt x="2540" y="825969"/>
                    </a:cubicBezTo>
                    <a:cubicBezTo>
                      <a:pt x="2540" y="867475"/>
                      <a:pt x="1270" y="908980"/>
                      <a:pt x="0" y="950486"/>
                    </a:cubicBezTo>
                    <a:cubicBezTo>
                      <a:pt x="0" y="963584"/>
                      <a:pt x="3810" y="973744"/>
                      <a:pt x="15240" y="978824"/>
                    </a:cubicBezTo>
                    <a:cubicBezTo>
                      <a:pt x="22860" y="982634"/>
                      <a:pt x="31750" y="985174"/>
                      <a:pt x="40640" y="986444"/>
                    </a:cubicBezTo>
                    <a:cubicBezTo>
                      <a:pt x="118534" y="991524"/>
                      <a:pt x="213667" y="995334"/>
                      <a:pt x="308800" y="1000414"/>
                    </a:cubicBezTo>
                    <a:cubicBezTo>
                      <a:pt x="361373" y="1002954"/>
                      <a:pt x="413946" y="1008034"/>
                      <a:pt x="466520" y="1009304"/>
                    </a:cubicBezTo>
                    <a:cubicBezTo>
                      <a:pt x="554142" y="1011844"/>
                      <a:pt x="1530503" y="1013114"/>
                      <a:pt x="1618125" y="1014384"/>
                    </a:cubicBezTo>
                    <a:cubicBezTo>
                      <a:pt x="1630643" y="1014384"/>
                      <a:pt x="1643160" y="1014384"/>
                      <a:pt x="1655678" y="1014384"/>
                    </a:cubicBezTo>
                    <a:cubicBezTo>
                      <a:pt x="1715761" y="1014384"/>
                      <a:pt x="1778349" y="1013114"/>
                      <a:pt x="1838432" y="1013114"/>
                    </a:cubicBezTo>
                    <a:cubicBezTo>
                      <a:pt x="1908530" y="1013114"/>
                      <a:pt x="1976124" y="1014384"/>
                      <a:pt x="2046222" y="1014384"/>
                    </a:cubicBezTo>
                    <a:cubicBezTo>
                      <a:pt x="2148865" y="1014384"/>
                      <a:pt x="2254012" y="1014384"/>
                      <a:pt x="2356655" y="1014384"/>
                    </a:cubicBezTo>
                    <a:cubicBezTo>
                      <a:pt x="2451787" y="1014384"/>
                      <a:pt x="2546920" y="1015654"/>
                      <a:pt x="2642053" y="1016924"/>
                    </a:cubicBezTo>
                    <a:cubicBezTo>
                      <a:pt x="2684612" y="1016924"/>
                      <a:pt x="2729675" y="1018194"/>
                      <a:pt x="2772234" y="1018194"/>
                    </a:cubicBezTo>
                    <a:cubicBezTo>
                      <a:pt x="2909926" y="1016924"/>
                      <a:pt x="3045115" y="1010574"/>
                      <a:pt x="3176938" y="1010574"/>
                    </a:cubicBezTo>
                    <a:cubicBezTo>
                      <a:pt x="3180748" y="1010574"/>
                      <a:pt x="3185828" y="1008034"/>
                      <a:pt x="3189638" y="1005494"/>
                    </a:cubicBezTo>
                    <a:cubicBezTo>
                      <a:pt x="3194718" y="1001684"/>
                      <a:pt x="3197258" y="995334"/>
                      <a:pt x="3199798" y="992794"/>
                    </a:cubicBezTo>
                    <a:cubicBezTo>
                      <a:pt x="3201068" y="945477"/>
                      <a:pt x="3202338" y="915421"/>
                      <a:pt x="3203608" y="885365"/>
                    </a:cubicBezTo>
                    <a:cubicBezTo>
                      <a:pt x="3204878" y="838850"/>
                      <a:pt x="3215038" y="392307"/>
                      <a:pt x="3216308" y="345792"/>
                    </a:cubicBezTo>
                    <a:cubicBezTo>
                      <a:pt x="3216308" y="317883"/>
                      <a:pt x="3217578" y="289974"/>
                      <a:pt x="3218848" y="262065"/>
                    </a:cubicBezTo>
                    <a:cubicBezTo>
                      <a:pt x="3220118" y="232010"/>
                      <a:pt x="3221388" y="201954"/>
                      <a:pt x="3223928" y="171898"/>
                    </a:cubicBezTo>
                    <a:cubicBezTo>
                      <a:pt x="3225198" y="154008"/>
                      <a:pt x="3225198" y="135402"/>
                      <a:pt x="3230278" y="117511"/>
                    </a:cubicBezTo>
                    <a:cubicBezTo>
                      <a:pt x="3235358" y="96043"/>
                      <a:pt x="3237898" y="75290"/>
                      <a:pt x="3236628" y="43744"/>
                    </a:cubicBezTo>
                    <a:cubicBezTo>
                      <a:pt x="3236628" y="37394"/>
                      <a:pt x="3232818" y="29774"/>
                      <a:pt x="3226468" y="27234"/>
                    </a:cubicBezTo>
                    <a:close/>
                  </a:path>
                </a:pathLst>
              </a:custGeom>
              <a:solidFill>
                <a:srgbClr val="88B0E6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77404" y="159191"/>
              <a:ext cx="3909422" cy="970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0"/>
                </a:lnSpc>
              </a:pPr>
              <a:r>
                <a:rPr lang="en-US" b="true" sz="2300">
                  <a:solidFill>
                    <a:srgbClr val="3D3D3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Thalassemia &amp; Ur</a:t>
              </a:r>
              <a:r>
                <a:rPr lang="en-US" b="true" sz="2300">
                  <a:solidFill>
                    <a:srgbClr val="3D3D3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gensi Pemodelan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38997" y="3901002"/>
            <a:ext cx="3932593" cy="854234"/>
            <a:chOff x="0" y="0"/>
            <a:chExt cx="3857928" cy="8380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-564"/>
              <a:ext cx="3858252" cy="836040"/>
            </a:xfrm>
            <a:custGeom>
              <a:avLst/>
              <a:gdLst/>
              <a:ahLst/>
              <a:cxnLst/>
              <a:rect r="r" b="b" t="t" l="l"/>
              <a:pathLst>
                <a:path h="836040" w="3858252">
                  <a:moveTo>
                    <a:pt x="3847768" y="27234"/>
                  </a:moveTo>
                  <a:cubicBezTo>
                    <a:pt x="3838878" y="23424"/>
                    <a:pt x="3829988" y="20884"/>
                    <a:pt x="3821098" y="20884"/>
                  </a:cubicBezTo>
                  <a:cubicBezTo>
                    <a:pt x="3794428" y="19614"/>
                    <a:pt x="3737411" y="19614"/>
                    <a:pt x="3674343" y="17074"/>
                  </a:cubicBezTo>
                  <a:cubicBezTo>
                    <a:pt x="3530188" y="11994"/>
                    <a:pt x="3389037" y="5644"/>
                    <a:pt x="3244882" y="3104"/>
                  </a:cubicBezTo>
                  <a:cubicBezTo>
                    <a:pt x="3127757" y="564"/>
                    <a:pt x="3013634" y="3104"/>
                    <a:pt x="2896508" y="1834"/>
                  </a:cubicBezTo>
                  <a:cubicBezTo>
                    <a:pt x="2845453" y="1834"/>
                    <a:pt x="2794399" y="-706"/>
                    <a:pt x="2743344" y="1834"/>
                  </a:cubicBezTo>
                  <a:cubicBezTo>
                    <a:pt x="2620212" y="9454"/>
                    <a:pt x="2497080" y="10724"/>
                    <a:pt x="2370945" y="8184"/>
                  </a:cubicBezTo>
                  <a:cubicBezTo>
                    <a:pt x="2307877" y="6914"/>
                    <a:pt x="2244809" y="6914"/>
                    <a:pt x="2181741" y="6914"/>
                  </a:cubicBezTo>
                  <a:cubicBezTo>
                    <a:pt x="2067619" y="6914"/>
                    <a:pt x="1953497" y="6914"/>
                    <a:pt x="1839374" y="5644"/>
                  </a:cubicBezTo>
                  <a:cubicBezTo>
                    <a:pt x="1719245" y="4374"/>
                    <a:pt x="535976" y="1834"/>
                    <a:pt x="418850" y="564"/>
                  </a:cubicBezTo>
                  <a:cubicBezTo>
                    <a:pt x="322747" y="-706"/>
                    <a:pt x="229647" y="564"/>
                    <a:pt x="133544" y="564"/>
                  </a:cubicBezTo>
                  <a:cubicBezTo>
                    <a:pt x="67473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88588"/>
                    <a:pt x="16510" y="121027"/>
                    <a:pt x="17780" y="152897"/>
                  </a:cubicBezTo>
                  <a:cubicBezTo>
                    <a:pt x="19050" y="185335"/>
                    <a:pt x="17780" y="217774"/>
                    <a:pt x="16510" y="250782"/>
                  </a:cubicBezTo>
                  <a:cubicBezTo>
                    <a:pt x="15240" y="284359"/>
                    <a:pt x="2540" y="636633"/>
                    <a:pt x="2540" y="670210"/>
                  </a:cubicBezTo>
                  <a:cubicBezTo>
                    <a:pt x="2540" y="703218"/>
                    <a:pt x="1270" y="736225"/>
                    <a:pt x="0" y="769233"/>
                  </a:cubicBezTo>
                  <a:cubicBezTo>
                    <a:pt x="0" y="781430"/>
                    <a:pt x="3810" y="791590"/>
                    <a:pt x="15240" y="796670"/>
                  </a:cubicBezTo>
                  <a:cubicBezTo>
                    <a:pt x="22860" y="800480"/>
                    <a:pt x="31750" y="803020"/>
                    <a:pt x="40640" y="804290"/>
                  </a:cubicBezTo>
                  <a:cubicBezTo>
                    <a:pt x="130540" y="809370"/>
                    <a:pt x="244663" y="813180"/>
                    <a:pt x="358785" y="818260"/>
                  </a:cubicBezTo>
                  <a:cubicBezTo>
                    <a:pt x="421853" y="820800"/>
                    <a:pt x="484921" y="825880"/>
                    <a:pt x="547988" y="827150"/>
                  </a:cubicBezTo>
                  <a:cubicBezTo>
                    <a:pt x="653101" y="829690"/>
                    <a:pt x="1824358" y="830960"/>
                    <a:pt x="1929471" y="832230"/>
                  </a:cubicBezTo>
                  <a:cubicBezTo>
                    <a:pt x="1944487" y="832230"/>
                    <a:pt x="1959503" y="832230"/>
                    <a:pt x="1974519" y="832230"/>
                  </a:cubicBezTo>
                  <a:cubicBezTo>
                    <a:pt x="2046596" y="832230"/>
                    <a:pt x="2121677" y="830960"/>
                    <a:pt x="2193754" y="830960"/>
                  </a:cubicBezTo>
                  <a:cubicBezTo>
                    <a:pt x="2277844" y="830960"/>
                    <a:pt x="2358931" y="832230"/>
                    <a:pt x="2443022" y="832230"/>
                  </a:cubicBezTo>
                  <a:cubicBezTo>
                    <a:pt x="2566154" y="832230"/>
                    <a:pt x="2692289" y="832230"/>
                    <a:pt x="2815421" y="832230"/>
                  </a:cubicBezTo>
                  <a:cubicBezTo>
                    <a:pt x="2929544" y="832230"/>
                    <a:pt x="3043666" y="833500"/>
                    <a:pt x="3157789" y="834770"/>
                  </a:cubicBezTo>
                  <a:cubicBezTo>
                    <a:pt x="3208843" y="834770"/>
                    <a:pt x="3262902" y="836040"/>
                    <a:pt x="3313956" y="836040"/>
                  </a:cubicBezTo>
                  <a:cubicBezTo>
                    <a:pt x="3479133" y="834770"/>
                    <a:pt x="3641308" y="828420"/>
                    <a:pt x="3798238" y="828420"/>
                  </a:cubicBezTo>
                  <a:cubicBezTo>
                    <a:pt x="3802048" y="828420"/>
                    <a:pt x="3807128" y="825880"/>
                    <a:pt x="3810938" y="823340"/>
                  </a:cubicBezTo>
                  <a:cubicBezTo>
                    <a:pt x="3816018" y="819530"/>
                    <a:pt x="3818558" y="813180"/>
                    <a:pt x="3821098" y="810640"/>
                  </a:cubicBezTo>
                  <a:cubicBezTo>
                    <a:pt x="3822368" y="765250"/>
                    <a:pt x="3823638" y="741347"/>
                    <a:pt x="3824908" y="717445"/>
                  </a:cubicBezTo>
                  <a:cubicBezTo>
                    <a:pt x="3826178" y="680454"/>
                    <a:pt x="3836338" y="325334"/>
                    <a:pt x="3837608" y="288343"/>
                  </a:cubicBezTo>
                  <a:cubicBezTo>
                    <a:pt x="3837608" y="266148"/>
                    <a:pt x="3838878" y="243953"/>
                    <a:pt x="3840148" y="221758"/>
                  </a:cubicBezTo>
                  <a:cubicBezTo>
                    <a:pt x="3841418" y="197856"/>
                    <a:pt x="3842688" y="173953"/>
                    <a:pt x="3845228" y="150051"/>
                  </a:cubicBezTo>
                  <a:cubicBezTo>
                    <a:pt x="3846498" y="135824"/>
                    <a:pt x="3846498" y="121027"/>
                    <a:pt x="3851578" y="106799"/>
                  </a:cubicBezTo>
                  <a:cubicBezTo>
                    <a:pt x="3856658" y="89726"/>
                    <a:pt x="3859198" y="73222"/>
                    <a:pt x="3857928" y="43744"/>
                  </a:cubicBezTo>
                  <a:cubicBezTo>
                    <a:pt x="3857928" y="37394"/>
                    <a:pt x="3854118" y="29774"/>
                    <a:pt x="3847768" y="27234"/>
                  </a:cubicBezTo>
                  <a:close/>
                </a:path>
              </a:pathLst>
            </a:custGeom>
            <a:solidFill>
              <a:srgbClr val="88B0E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114393" y="4081422"/>
            <a:ext cx="33818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400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</a:t>
            </a:r>
            <a:r>
              <a:rPr lang="en-US" b="true" sz="2400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antangan &amp; Solusi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54829" y="2155949"/>
            <a:ext cx="1159739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</a:pPr>
            <a:r>
              <a:rPr lang="en-US" b="true" sz="4500" spc="-44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LATAR BELAKANG &amp; MASALAH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8228525">
            <a:off x="14769501" y="2108692"/>
            <a:ext cx="1254108" cy="1839359"/>
          </a:xfrm>
          <a:custGeom>
            <a:avLst/>
            <a:gdLst/>
            <a:ahLst/>
            <a:cxnLst/>
            <a:rect r="r" b="b" t="t" l="l"/>
            <a:pathLst>
              <a:path h="1839359" w="1254108">
                <a:moveTo>
                  <a:pt x="0" y="0"/>
                </a:moveTo>
                <a:lnTo>
                  <a:pt x="1254108" y="0"/>
                </a:lnTo>
                <a:lnTo>
                  <a:pt x="1254108" y="1839359"/>
                </a:lnTo>
                <a:lnTo>
                  <a:pt x="0" y="1839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9353079">
            <a:off x="2310484" y="2454729"/>
            <a:ext cx="1695572" cy="1556843"/>
          </a:xfrm>
          <a:custGeom>
            <a:avLst/>
            <a:gdLst/>
            <a:ahLst/>
            <a:cxnLst/>
            <a:rect r="r" b="b" t="t" l="l"/>
            <a:pathLst>
              <a:path h="1556843" w="1695572">
                <a:moveTo>
                  <a:pt x="0" y="0"/>
                </a:moveTo>
                <a:lnTo>
                  <a:pt x="1695572" y="0"/>
                </a:lnTo>
                <a:lnTo>
                  <a:pt x="1695572" y="1556843"/>
                </a:lnTo>
                <a:lnTo>
                  <a:pt x="0" y="15568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46781" y="5010150"/>
            <a:ext cx="5564096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Thalassemia: Kelainan ge</a:t>
            </a: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netik hemoglobin serius, Indonesia terletak di "Thalassemia Belt."</a:t>
            </a:r>
          </a:p>
          <a:p>
            <a:pPr algn="l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Dampak: Beban kesehatan dan ekonomi tinggi, kebutuhan transfusi rutin, kasus terus meningkat.</a:t>
            </a:r>
          </a:p>
          <a:p>
            <a:pPr algn="l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Urgensi: Pendeteksian dini dan perencanaan layanan yang realistis sangat dibutuhkan.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7637" y="5181600"/>
            <a:ext cx="5233533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Tantangan: Keterbatasan akses k</a:t>
            </a: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 data riil/sensitif pasien (privasi, fragmentasi data).</a:t>
            </a:r>
          </a:p>
          <a:p>
            <a:pPr algn="l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b="true" sz="20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Solusi: Pembangkitan Data Sintetis menggunakan Pembangkit Bilangan Acak Semu (PRNG) yang properti distribusinya mencerminkan data asli.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86083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666592"/>
            <a:ext cx="8683622" cy="6782208"/>
            <a:chOff x="0" y="0"/>
            <a:chExt cx="3665642" cy="2862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3665965" cy="2861017"/>
            </a:xfrm>
            <a:custGeom>
              <a:avLst/>
              <a:gdLst/>
              <a:ahLst/>
              <a:cxnLst/>
              <a:rect r="r" b="b" t="t" l="l"/>
              <a:pathLst>
                <a:path h="2861017" w="3665965">
                  <a:moveTo>
                    <a:pt x="3655482" y="27234"/>
                  </a:moveTo>
                  <a:cubicBezTo>
                    <a:pt x="3646592" y="23424"/>
                    <a:pt x="3637702" y="20884"/>
                    <a:pt x="3628812" y="20884"/>
                  </a:cubicBezTo>
                  <a:cubicBezTo>
                    <a:pt x="3602142" y="19614"/>
                    <a:pt x="3547945" y="19614"/>
                    <a:pt x="3488126" y="17074"/>
                  </a:cubicBezTo>
                  <a:cubicBezTo>
                    <a:pt x="3351395" y="11994"/>
                    <a:pt x="3217513" y="5644"/>
                    <a:pt x="3080782" y="3104"/>
                  </a:cubicBezTo>
                  <a:cubicBezTo>
                    <a:pt x="2969688" y="564"/>
                    <a:pt x="2861443" y="3104"/>
                    <a:pt x="2750349" y="1834"/>
                  </a:cubicBezTo>
                  <a:cubicBezTo>
                    <a:pt x="2701923" y="1834"/>
                    <a:pt x="2653498" y="-706"/>
                    <a:pt x="2605072" y="1834"/>
                  </a:cubicBezTo>
                  <a:cubicBezTo>
                    <a:pt x="2488281" y="9454"/>
                    <a:pt x="2371490" y="10724"/>
                    <a:pt x="2251851" y="8184"/>
                  </a:cubicBezTo>
                  <a:cubicBezTo>
                    <a:pt x="2192031" y="6914"/>
                    <a:pt x="2132211" y="6914"/>
                    <a:pt x="2072391" y="6914"/>
                  </a:cubicBezTo>
                  <a:cubicBezTo>
                    <a:pt x="1964146" y="6914"/>
                    <a:pt x="1855901" y="6914"/>
                    <a:pt x="1747656" y="5644"/>
                  </a:cubicBezTo>
                  <a:cubicBezTo>
                    <a:pt x="1633713" y="4374"/>
                    <a:pt x="511380" y="1834"/>
                    <a:pt x="400287" y="564"/>
                  </a:cubicBezTo>
                  <a:cubicBezTo>
                    <a:pt x="309133" y="-706"/>
                    <a:pt x="220827" y="564"/>
                    <a:pt x="129673" y="564"/>
                  </a:cubicBezTo>
                  <a:cubicBezTo>
                    <a:pt x="67005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55551"/>
                    <a:pt x="16510" y="280829"/>
                    <a:pt x="17780" y="403908"/>
                  </a:cubicBezTo>
                  <a:cubicBezTo>
                    <a:pt x="19050" y="529186"/>
                    <a:pt x="17780" y="654464"/>
                    <a:pt x="16510" y="781940"/>
                  </a:cubicBezTo>
                  <a:cubicBezTo>
                    <a:pt x="15240" y="911613"/>
                    <a:pt x="2540" y="2272086"/>
                    <a:pt x="2540" y="2401759"/>
                  </a:cubicBezTo>
                  <a:cubicBezTo>
                    <a:pt x="2540" y="2529235"/>
                    <a:pt x="1270" y="2656711"/>
                    <a:pt x="0" y="2784187"/>
                  </a:cubicBezTo>
                  <a:cubicBezTo>
                    <a:pt x="0" y="2806407"/>
                    <a:pt x="3810" y="2816567"/>
                    <a:pt x="15240" y="2821647"/>
                  </a:cubicBezTo>
                  <a:cubicBezTo>
                    <a:pt x="22860" y="2825457"/>
                    <a:pt x="31750" y="2827997"/>
                    <a:pt x="40640" y="2829267"/>
                  </a:cubicBezTo>
                  <a:cubicBezTo>
                    <a:pt x="126825" y="2834347"/>
                    <a:pt x="235070" y="2838157"/>
                    <a:pt x="343315" y="2843237"/>
                  </a:cubicBezTo>
                  <a:cubicBezTo>
                    <a:pt x="403135" y="2845777"/>
                    <a:pt x="462955" y="2850857"/>
                    <a:pt x="522775" y="2852127"/>
                  </a:cubicBezTo>
                  <a:cubicBezTo>
                    <a:pt x="622474" y="2854667"/>
                    <a:pt x="1733413" y="2855937"/>
                    <a:pt x="1833112" y="2857207"/>
                  </a:cubicBezTo>
                  <a:cubicBezTo>
                    <a:pt x="1847355" y="2857207"/>
                    <a:pt x="1861598" y="2857207"/>
                    <a:pt x="1875841" y="2857207"/>
                  </a:cubicBezTo>
                  <a:cubicBezTo>
                    <a:pt x="1944206" y="2857207"/>
                    <a:pt x="2015420" y="2855937"/>
                    <a:pt x="2083785" y="2855937"/>
                  </a:cubicBezTo>
                  <a:cubicBezTo>
                    <a:pt x="2163545" y="2855937"/>
                    <a:pt x="2240456" y="2857207"/>
                    <a:pt x="2320216" y="2857207"/>
                  </a:cubicBezTo>
                  <a:cubicBezTo>
                    <a:pt x="2437007" y="2857207"/>
                    <a:pt x="2556646" y="2857207"/>
                    <a:pt x="2673437" y="2857207"/>
                  </a:cubicBezTo>
                  <a:cubicBezTo>
                    <a:pt x="2781683" y="2857207"/>
                    <a:pt x="2889928" y="2858477"/>
                    <a:pt x="2998173" y="2859747"/>
                  </a:cubicBezTo>
                  <a:cubicBezTo>
                    <a:pt x="3046599" y="2859747"/>
                    <a:pt x="3097873" y="2861017"/>
                    <a:pt x="3146298" y="2861017"/>
                  </a:cubicBezTo>
                  <a:cubicBezTo>
                    <a:pt x="3302969" y="2859747"/>
                    <a:pt x="3456791" y="2853397"/>
                    <a:pt x="3605952" y="2853397"/>
                  </a:cubicBezTo>
                  <a:cubicBezTo>
                    <a:pt x="3609762" y="2853397"/>
                    <a:pt x="3614842" y="2850857"/>
                    <a:pt x="3618652" y="2848317"/>
                  </a:cubicBezTo>
                  <a:cubicBezTo>
                    <a:pt x="3623732" y="2844507"/>
                    <a:pt x="3626272" y="2838157"/>
                    <a:pt x="3628812" y="2835617"/>
                  </a:cubicBezTo>
                  <a:cubicBezTo>
                    <a:pt x="3630082" y="2768801"/>
                    <a:pt x="3631352" y="2676491"/>
                    <a:pt x="3632622" y="2584181"/>
                  </a:cubicBezTo>
                  <a:cubicBezTo>
                    <a:pt x="3633892" y="2441321"/>
                    <a:pt x="3644052" y="1069859"/>
                    <a:pt x="3645322" y="926998"/>
                  </a:cubicBezTo>
                  <a:cubicBezTo>
                    <a:pt x="3645322" y="841282"/>
                    <a:pt x="3646592" y="755565"/>
                    <a:pt x="3647862" y="669849"/>
                  </a:cubicBezTo>
                  <a:cubicBezTo>
                    <a:pt x="3649132" y="577539"/>
                    <a:pt x="3650402" y="485229"/>
                    <a:pt x="3652942" y="392919"/>
                  </a:cubicBezTo>
                  <a:cubicBezTo>
                    <a:pt x="3654212" y="337973"/>
                    <a:pt x="3654212" y="280828"/>
                    <a:pt x="3659292" y="225882"/>
                  </a:cubicBezTo>
                  <a:cubicBezTo>
                    <a:pt x="3664372" y="159946"/>
                    <a:pt x="3666912" y="96209"/>
                    <a:pt x="3665642" y="43744"/>
                  </a:cubicBezTo>
                  <a:cubicBezTo>
                    <a:pt x="3665642" y="37394"/>
                    <a:pt x="3661832" y="29774"/>
                    <a:pt x="3655482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6333" y="3020933"/>
            <a:ext cx="6495469" cy="851716"/>
            <a:chOff x="0" y="0"/>
            <a:chExt cx="8660626" cy="113562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660626" cy="1135622"/>
              <a:chOff x="0" y="0"/>
              <a:chExt cx="8142866" cy="106773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-564"/>
                <a:ext cx="8143189" cy="1065755"/>
              </a:xfrm>
              <a:custGeom>
                <a:avLst/>
                <a:gdLst/>
                <a:ahLst/>
                <a:cxnLst/>
                <a:rect r="r" b="b" t="t" l="l"/>
                <a:pathLst>
                  <a:path h="1065755" w="8143189">
                    <a:moveTo>
                      <a:pt x="8132706" y="27234"/>
                    </a:moveTo>
                    <a:cubicBezTo>
                      <a:pt x="8123816" y="23424"/>
                      <a:pt x="8114926" y="20884"/>
                      <a:pt x="8106035" y="20884"/>
                    </a:cubicBezTo>
                    <a:cubicBezTo>
                      <a:pt x="8079366" y="19614"/>
                      <a:pt x="7959476" y="19614"/>
                      <a:pt x="7824032" y="17074"/>
                    </a:cubicBezTo>
                    <a:cubicBezTo>
                      <a:pt x="7514444" y="11994"/>
                      <a:pt x="7211307" y="5644"/>
                      <a:pt x="6901719" y="3104"/>
                    </a:cubicBezTo>
                    <a:cubicBezTo>
                      <a:pt x="6650179" y="564"/>
                      <a:pt x="6405090" y="3104"/>
                      <a:pt x="6153550" y="1834"/>
                    </a:cubicBezTo>
                    <a:cubicBezTo>
                      <a:pt x="6043904" y="1834"/>
                      <a:pt x="5934259" y="-706"/>
                      <a:pt x="5824613" y="1834"/>
                    </a:cubicBezTo>
                    <a:cubicBezTo>
                      <a:pt x="5560174" y="9454"/>
                      <a:pt x="5295735" y="10724"/>
                      <a:pt x="5024846" y="8184"/>
                    </a:cubicBezTo>
                    <a:cubicBezTo>
                      <a:pt x="4889401" y="6914"/>
                      <a:pt x="4753957" y="6914"/>
                      <a:pt x="4618513" y="6914"/>
                    </a:cubicBezTo>
                    <a:cubicBezTo>
                      <a:pt x="4373423" y="6914"/>
                      <a:pt x="4128333" y="6914"/>
                      <a:pt x="3883243" y="5644"/>
                    </a:cubicBezTo>
                    <a:cubicBezTo>
                      <a:pt x="3625254" y="4374"/>
                      <a:pt x="1084057" y="1834"/>
                      <a:pt x="832517" y="564"/>
                    </a:cubicBezTo>
                    <a:cubicBezTo>
                      <a:pt x="626126" y="-706"/>
                      <a:pt x="426184" y="564"/>
                      <a:pt x="219793" y="564"/>
                    </a:cubicBezTo>
                    <a:cubicBezTo>
                      <a:pt x="77898" y="564"/>
                      <a:pt x="33020" y="3104"/>
                      <a:pt x="5080" y="4374"/>
                    </a:cubicBezTo>
                    <a:cubicBezTo>
                      <a:pt x="3810" y="4374"/>
                      <a:pt x="2540" y="6914"/>
                      <a:pt x="0" y="8184"/>
                    </a:cubicBezTo>
                    <a:cubicBezTo>
                      <a:pt x="1270" y="20884"/>
                      <a:pt x="3810" y="33584"/>
                      <a:pt x="5080" y="46284"/>
                    </a:cubicBezTo>
                    <a:cubicBezTo>
                      <a:pt x="15240" y="96184"/>
                      <a:pt x="16510" y="139155"/>
                      <a:pt x="17780" y="181372"/>
                    </a:cubicBezTo>
                    <a:cubicBezTo>
                      <a:pt x="19050" y="224342"/>
                      <a:pt x="17780" y="267313"/>
                      <a:pt x="16510" y="311037"/>
                    </a:cubicBezTo>
                    <a:cubicBezTo>
                      <a:pt x="15240" y="355515"/>
                      <a:pt x="2540" y="822160"/>
                      <a:pt x="2540" y="866638"/>
                    </a:cubicBezTo>
                    <a:cubicBezTo>
                      <a:pt x="2540" y="910363"/>
                      <a:pt x="1270" y="954087"/>
                      <a:pt x="0" y="997811"/>
                    </a:cubicBezTo>
                    <a:cubicBezTo>
                      <a:pt x="0" y="1011145"/>
                      <a:pt x="3810" y="1021305"/>
                      <a:pt x="15240" y="1026385"/>
                    </a:cubicBezTo>
                    <a:cubicBezTo>
                      <a:pt x="22860" y="1030195"/>
                      <a:pt x="31750" y="1032735"/>
                      <a:pt x="40640" y="1034005"/>
                    </a:cubicBezTo>
                    <a:cubicBezTo>
                      <a:pt x="213343" y="1039085"/>
                      <a:pt x="458433" y="1042895"/>
                      <a:pt x="703522" y="1047975"/>
                    </a:cubicBezTo>
                    <a:cubicBezTo>
                      <a:pt x="838967" y="1050515"/>
                      <a:pt x="974411" y="1055595"/>
                      <a:pt x="1109856" y="1056865"/>
                    </a:cubicBezTo>
                    <a:cubicBezTo>
                      <a:pt x="1335597" y="1059405"/>
                      <a:pt x="3850994" y="1060675"/>
                      <a:pt x="4076734" y="1061945"/>
                    </a:cubicBezTo>
                    <a:cubicBezTo>
                      <a:pt x="4108983" y="1061945"/>
                      <a:pt x="4141232" y="1061945"/>
                      <a:pt x="4173481" y="1061945"/>
                    </a:cubicBezTo>
                    <a:cubicBezTo>
                      <a:pt x="4328275" y="1061945"/>
                      <a:pt x="4489518" y="1060675"/>
                      <a:pt x="4644311" y="1060675"/>
                    </a:cubicBezTo>
                    <a:cubicBezTo>
                      <a:pt x="4824904" y="1060675"/>
                      <a:pt x="4999047" y="1061945"/>
                      <a:pt x="5179640" y="1061945"/>
                    </a:cubicBezTo>
                    <a:cubicBezTo>
                      <a:pt x="5444079" y="1061945"/>
                      <a:pt x="5714968" y="1061945"/>
                      <a:pt x="5979407" y="1061945"/>
                    </a:cubicBezTo>
                    <a:cubicBezTo>
                      <a:pt x="6224496" y="1061945"/>
                      <a:pt x="6469587" y="1063215"/>
                      <a:pt x="6714677" y="1064485"/>
                    </a:cubicBezTo>
                    <a:cubicBezTo>
                      <a:pt x="6824322" y="1064485"/>
                      <a:pt x="6940417" y="1065755"/>
                      <a:pt x="7050063" y="1065755"/>
                    </a:cubicBezTo>
                    <a:cubicBezTo>
                      <a:pt x="7404798" y="1064485"/>
                      <a:pt x="7753084" y="1058135"/>
                      <a:pt x="8083176" y="1058135"/>
                    </a:cubicBezTo>
                    <a:cubicBezTo>
                      <a:pt x="8086985" y="1058135"/>
                      <a:pt x="8092066" y="1055595"/>
                      <a:pt x="8095876" y="1053055"/>
                    </a:cubicBezTo>
                    <a:cubicBezTo>
                      <a:pt x="8100956" y="1049245"/>
                      <a:pt x="8103496" y="1042895"/>
                      <a:pt x="8106035" y="1040355"/>
                    </a:cubicBezTo>
                    <a:cubicBezTo>
                      <a:pt x="8107306" y="992534"/>
                      <a:pt x="8108576" y="960872"/>
                      <a:pt x="8109846" y="929209"/>
                    </a:cubicBezTo>
                    <a:cubicBezTo>
                      <a:pt x="8111116" y="880208"/>
                      <a:pt x="8121276" y="409794"/>
                      <a:pt x="8122546" y="360792"/>
                    </a:cubicBezTo>
                    <a:cubicBezTo>
                      <a:pt x="8122546" y="331391"/>
                      <a:pt x="8123816" y="301991"/>
                      <a:pt x="8125085" y="272590"/>
                    </a:cubicBezTo>
                    <a:cubicBezTo>
                      <a:pt x="8126356" y="240927"/>
                      <a:pt x="8127626" y="209265"/>
                      <a:pt x="8130166" y="177602"/>
                    </a:cubicBezTo>
                    <a:cubicBezTo>
                      <a:pt x="8131435" y="158755"/>
                      <a:pt x="8131435" y="139155"/>
                      <a:pt x="8136516" y="120308"/>
                    </a:cubicBezTo>
                    <a:cubicBezTo>
                      <a:pt x="8141596" y="97692"/>
                      <a:pt x="8144135" y="75830"/>
                      <a:pt x="8142866" y="43744"/>
                    </a:cubicBezTo>
                    <a:cubicBezTo>
                      <a:pt x="8142866" y="37394"/>
                      <a:pt x="8139056" y="29774"/>
                      <a:pt x="8132706" y="27234"/>
                    </a:cubicBezTo>
                    <a:close/>
                  </a:path>
                </a:pathLst>
              </a:custGeom>
              <a:solidFill>
                <a:srgbClr val="B22F3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273071" y="207554"/>
              <a:ext cx="8114484" cy="682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9"/>
                </a:lnSpc>
              </a:pPr>
              <a:r>
                <a:rPr lang="en-US" sz="3199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Rumus</a:t>
              </a:r>
              <a:r>
                <a:rPr lang="en-US" b="true" sz="3199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an Masalah Utama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761777" y="7664017"/>
            <a:ext cx="1598119" cy="1046042"/>
          </a:xfrm>
          <a:custGeom>
            <a:avLst/>
            <a:gdLst/>
            <a:ahLst/>
            <a:cxnLst/>
            <a:rect r="r" b="b" t="t" l="l"/>
            <a:pathLst>
              <a:path h="1046042" w="1598119">
                <a:moveTo>
                  <a:pt x="0" y="0"/>
                </a:moveTo>
                <a:lnTo>
                  <a:pt x="1598120" y="0"/>
                </a:lnTo>
                <a:lnTo>
                  <a:pt x="1598120" y="1046042"/>
                </a:lnTo>
                <a:lnTo>
                  <a:pt x="0" y="1046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8798" y="4425864"/>
            <a:ext cx="7094504" cy="220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buFont typeface="Arial"/>
              <a:buChar char="•"/>
            </a:pPr>
            <a:r>
              <a:rPr lang="en-US" b="true" sz="23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Bagaimana mengimplementasikan algoritma RNG (LCG) untuk membangkitkan bilangan seragam?</a:t>
            </a:r>
          </a:p>
          <a:p>
            <a:pPr algn="l">
              <a:lnSpc>
                <a:spcPts val="960"/>
              </a:lnSpc>
            </a:pPr>
          </a:p>
          <a:p>
            <a:pPr algn="l" marL="496572" indent="-248286" lvl="1">
              <a:lnSpc>
                <a:spcPts val="2760"/>
              </a:lnSpc>
              <a:buFont typeface="Arial"/>
              <a:buChar char="•"/>
            </a:pPr>
            <a:r>
              <a:rPr lang="en-US" b="true" sz="23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Bagaimana menerapkan Metode Transformasi Invers (Empiris) untuk mensimulasikan data umur (kontinu) dan asal (diskrit)?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0498" y="860054"/>
            <a:ext cx="8481824" cy="126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2"/>
              </a:lnSpc>
            </a:pPr>
            <a:r>
              <a:rPr lang="en-US" b="true" sz="5299" spc="-52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RUMUSAN MASALAH &amp; TUJUAN PENELITIAN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23088" y="1639841"/>
            <a:ext cx="6448238" cy="7808959"/>
            <a:chOff x="0" y="0"/>
            <a:chExt cx="2267606" cy="2746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7606" cy="2746122"/>
            </a:xfrm>
            <a:custGeom>
              <a:avLst/>
              <a:gdLst/>
              <a:ahLst/>
              <a:cxnLst/>
              <a:rect r="r" b="b" t="t" l="l"/>
              <a:pathLst>
                <a:path h="2746122" w="2267606">
                  <a:moveTo>
                    <a:pt x="52828" y="0"/>
                  </a:moveTo>
                  <a:lnTo>
                    <a:pt x="2214779" y="0"/>
                  </a:lnTo>
                  <a:cubicBezTo>
                    <a:pt x="2228790" y="0"/>
                    <a:pt x="2242227" y="5566"/>
                    <a:pt x="2252133" y="15473"/>
                  </a:cubicBezTo>
                  <a:cubicBezTo>
                    <a:pt x="2262041" y="25380"/>
                    <a:pt x="2267606" y="38817"/>
                    <a:pt x="2267606" y="52828"/>
                  </a:cubicBezTo>
                  <a:lnTo>
                    <a:pt x="2267606" y="2693294"/>
                  </a:lnTo>
                  <a:cubicBezTo>
                    <a:pt x="2267606" y="2722470"/>
                    <a:pt x="2243955" y="2746122"/>
                    <a:pt x="2214779" y="2746122"/>
                  </a:cubicBezTo>
                  <a:lnTo>
                    <a:pt x="52828" y="2746122"/>
                  </a:lnTo>
                  <a:cubicBezTo>
                    <a:pt x="38817" y="2746122"/>
                    <a:pt x="25380" y="2740556"/>
                    <a:pt x="15473" y="2730649"/>
                  </a:cubicBezTo>
                  <a:cubicBezTo>
                    <a:pt x="5566" y="2720742"/>
                    <a:pt x="0" y="2707305"/>
                    <a:pt x="0" y="2693294"/>
                  </a:cubicBezTo>
                  <a:lnTo>
                    <a:pt x="0" y="52828"/>
                  </a:lnTo>
                  <a:cubicBezTo>
                    <a:pt x="0" y="38817"/>
                    <a:pt x="5566" y="25380"/>
                    <a:pt x="15473" y="15473"/>
                  </a:cubicBezTo>
                  <a:cubicBezTo>
                    <a:pt x="25380" y="5566"/>
                    <a:pt x="38817" y="0"/>
                    <a:pt x="52828" y="0"/>
                  </a:cubicBezTo>
                  <a:close/>
                </a:path>
              </a:pathLst>
            </a:custGeom>
            <a:solidFill>
              <a:srgbClr val="3E4A9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267606" cy="2774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094918" y="2237117"/>
            <a:ext cx="494626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Tujuan Penelitian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35417" y="3246767"/>
            <a:ext cx="5423580" cy="1297736"/>
            <a:chOff x="0" y="0"/>
            <a:chExt cx="1907272" cy="4563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7272" cy="456366"/>
            </a:xfrm>
            <a:custGeom>
              <a:avLst/>
              <a:gdLst/>
              <a:ahLst/>
              <a:cxnLst/>
              <a:rect r="r" b="b" t="t" l="l"/>
              <a:pathLst>
                <a:path h="456366" w="1907272">
                  <a:moveTo>
                    <a:pt x="21412" y="0"/>
                  </a:moveTo>
                  <a:lnTo>
                    <a:pt x="1885860" y="0"/>
                  </a:lnTo>
                  <a:cubicBezTo>
                    <a:pt x="1897686" y="0"/>
                    <a:pt x="1907272" y="9586"/>
                    <a:pt x="1907272" y="21412"/>
                  </a:cubicBezTo>
                  <a:lnTo>
                    <a:pt x="1907272" y="434954"/>
                  </a:lnTo>
                  <a:cubicBezTo>
                    <a:pt x="1907272" y="446779"/>
                    <a:pt x="1897686" y="456366"/>
                    <a:pt x="1885860" y="456366"/>
                  </a:cubicBezTo>
                  <a:lnTo>
                    <a:pt x="21412" y="456366"/>
                  </a:lnTo>
                  <a:cubicBezTo>
                    <a:pt x="15733" y="456366"/>
                    <a:pt x="10287" y="454110"/>
                    <a:pt x="6271" y="450094"/>
                  </a:cubicBezTo>
                  <a:cubicBezTo>
                    <a:pt x="2256" y="446079"/>
                    <a:pt x="0" y="440633"/>
                    <a:pt x="0" y="434954"/>
                  </a:cubicBezTo>
                  <a:lnTo>
                    <a:pt x="0" y="21412"/>
                  </a:lnTo>
                  <a:cubicBezTo>
                    <a:pt x="0" y="9586"/>
                    <a:pt x="9586" y="0"/>
                    <a:pt x="21412" y="0"/>
                  </a:cubicBezTo>
                  <a:close/>
                </a:path>
              </a:pathLst>
            </a:custGeom>
            <a:solidFill>
              <a:srgbClr val="535EA6">
                <a:alpha val="8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907272" cy="484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318791" y="3406689"/>
            <a:ext cx="505683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Mengidentifikasi karakteristik statistik (CDF/Probabilitas) dari data Thalassemia riil.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135417" y="4695427"/>
            <a:ext cx="5423580" cy="1297736"/>
            <a:chOff x="0" y="0"/>
            <a:chExt cx="1907272" cy="4563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7272" cy="456366"/>
            </a:xfrm>
            <a:custGeom>
              <a:avLst/>
              <a:gdLst/>
              <a:ahLst/>
              <a:cxnLst/>
              <a:rect r="r" b="b" t="t" l="l"/>
              <a:pathLst>
                <a:path h="456366" w="1907272">
                  <a:moveTo>
                    <a:pt x="21412" y="0"/>
                  </a:moveTo>
                  <a:lnTo>
                    <a:pt x="1885860" y="0"/>
                  </a:lnTo>
                  <a:cubicBezTo>
                    <a:pt x="1897686" y="0"/>
                    <a:pt x="1907272" y="9586"/>
                    <a:pt x="1907272" y="21412"/>
                  </a:cubicBezTo>
                  <a:lnTo>
                    <a:pt x="1907272" y="434954"/>
                  </a:lnTo>
                  <a:cubicBezTo>
                    <a:pt x="1907272" y="446779"/>
                    <a:pt x="1897686" y="456366"/>
                    <a:pt x="1885860" y="456366"/>
                  </a:cubicBezTo>
                  <a:lnTo>
                    <a:pt x="21412" y="456366"/>
                  </a:lnTo>
                  <a:cubicBezTo>
                    <a:pt x="15733" y="456366"/>
                    <a:pt x="10287" y="454110"/>
                    <a:pt x="6271" y="450094"/>
                  </a:cubicBezTo>
                  <a:cubicBezTo>
                    <a:pt x="2256" y="446079"/>
                    <a:pt x="0" y="440633"/>
                    <a:pt x="0" y="434954"/>
                  </a:cubicBezTo>
                  <a:lnTo>
                    <a:pt x="0" y="21412"/>
                  </a:lnTo>
                  <a:cubicBezTo>
                    <a:pt x="0" y="9586"/>
                    <a:pt x="9586" y="0"/>
                    <a:pt x="21412" y="0"/>
                  </a:cubicBezTo>
                  <a:close/>
                </a:path>
              </a:pathLst>
            </a:custGeom>
            <a:solidFill>
              <a:srgbClr val="535EA6">
                <a:alpha val="8000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907272" cy="484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318791" y="4858213"/>
            <a:ext cx="505683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Mengimplementasikan Linear Congruential Generator (LCG) secara manual.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135417" y="6144088"/>
            <a:ext cx="5423580" cy="1297736"/>
            <a:chOff x="0" y="0"/>
            <a:chExt cx="1907272" cy="4563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7272" cy="456366"/>
            </a:xfrm>
            <a:custGeom>
              <a:avLst/>
              <a:gdLst/>
              <a:ahLst/>
              <a:cxnLst/>
              <a:rect r="r" b="b" t="t" l="l"/>
              <a:pathLst>
                <a:path h="456366" w="1907272">
                  <a:moveTo>
                    <a:pt x="21412" y="0"/>
                  </a:moveTo>
                  <a:lnTo>
                    <a:pt x="1885860" y="0"/>
                  </a:lnTo>
                  <a:cubicBezTo>
                    <a:pt x="1897686" y="0"/>
                    <a:pt x="1907272" y="9586"/>
                    <a:pt x="1907272" y="21412"/>
                  </a:cubicBezTo>
                  <a:lnTo>
                    <a:pt x="1907272" y="434954"/>
                  </a:lnTo>
                  <a:cubicBezTo>
                    <a:pt x="1907272" y="446779"/>
                    <a:pt x="1897686" y="456366"/>
                    <a:pt x="1885860" y="456366"/>
                  </a:cubicBezTo>
                  <a:lnTo>
                    <a:pt x="21412" y="456366"/>
                  </a:lnTo>
                  <a:cubicBezTo>
                    <a:pt x="15733" y="456366"/>
                    <a:pt x="10287" y="454110"/>
                    <a:pt x="6271" y="450094"/>
                  </a:cubicBezTo>
                  <a:cubicBezTo>
                    <a:pt x="2256" y="446079"/>
                    <a:pt x="0" y="440633"/>
                    <a:pt x="0" y="434954"/>
                  </a:cubicBezTo>
                  <a:lnTo>
                    <a:pt x="0" y="21412"/>
                  </a:lnTo>
                  <a:cubicBezTo>
                    <a:pt x="0" y="9586"/>
                    <a:pt x="9586" y="0"/>
                    <a:pt x="21412" y="0"/>
                  </a:cubicBezTo>
                  <a:close/>
                </a:path>
              </a:pathLst>
            </a:custGeom>
            <a:solidFill>
              <a:srgbClr val="535EA6">
                <a:alpha val="8000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907272" cy="484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227104" y="6307489"/>
            <a:ext cx="524020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Menerapkan Metode Inverse Transform Empiris untuk mensimulasikan 5.000 pasien sintetis.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135417" y="7592749"/>
            <a:ext cx="5423580" cy="1297736"/>
            <a:chOff x="0" y="0"/>
            <a:chExt cx="1907272" cy="4563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7272" cy="456366"/>
            </a:xfrm>
            <a:custGeom>
              <a:avLst/>
              <a:gdLst/>
              <a:ahLst/>
              <a:cxnLst/>
              <a:rect r="r" b="b" t="t" l="l"/>
              <a:pathLst>
                <a:path h="456366" w="1907272">
                  <a:moveTo>
                    <a:pt x="21412" y="0"/>
                  </a:moveTo>
                  <a:lnTo>
                    <a:pt x="1885860" y="0"/>
                  </a:lnTo>
                  <a:cubicBezTo>
                    <a:pt x="1897686" y="0"/>
                    <a:pt x="1907272" y="9586"/>
                    <a:pt x="1907272" y="21412"/>
                  </a:cubicBezTo>
                  <a:lnTo>
                    <a:pt x="1907272" y="434954"/>
                  </a:lnTo>
                  <a:cubicBezTo>
                    <a:pt x="1907272" y="446779"/>
                    <a:pt x="1897686" y="456366"/>
                    <a:pt x="1885860" y="456366"/>
                  </a:cubicBezTo>
                  <a:lnTo>
                    <a:pt x="21412" y="456366"/>
                  </a:lnTo>
                  <a:cubicBezTo>
                    <a:pt x="15733" y="456366"/>
                    <a:pt x="10287" y="454110"/>
                    <a:pt x="6271" y="450094"/>
                  </a:cubicBezTo>
                  <a:cubicBezTo>
                    <a:pt x="2256" y="446079"/>
                    <a:pt x="0" y="440633"/>
                    <a:pt x="0" y="434954"/>
                  </a:cubicBezTo>
                  <a:lnTo>
                    <a:pt x="0" y="21412"/>
                  </a:lnTo>
                  <a:cubicBezTo>
                    <a:pt x="0" y="9586"/>
                    <a:pt x="9586" y="0"/>
                    <a:pt x="21412" y="0"/>
                  </a:cubicBezTo>
                  <a:close/>
                </a:path>
              </a:pathLst>
            </a:custGeom>
            <a:solidFill>
              <a:srgbClr val="535EA6">
                <a:alpha val="8000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907272" cy="484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18791" y="7752672"/>
            <a:ext cx="505683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Memvalidasi kesesuaian pola distribusi dataset simulasi terhadap data asli.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A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4062" y="-310510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13816841"/>
                  </a:moveTo>
                  <a:lnTo>
                    <a:pt x="13842008" y="13816841"/>
                  </a:lnTo>
                  <a:lnTo>
                    <a:pt x="13842008" y="0"/>
                  </a:lnTo>
                  <a:lnTo>
                    <a:pt x="0" y="0"/>
                  </a:lnTo>
                  <a:lnTo>
                    <a:pt x="0" y="13816841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13816841"/>
                  </a:moveTo>
                  <a:lnTo>
                    <a:pt x="13842009" y="13816841"/>
                  </a:lnTo>
                  <a:lnTo>
                    <a:pt x="13842009" y="0"/>
                  </a:lnTo>
                  <a:lnTo>
                    <a:pt x="0" y="0"/>
                  </a:lnTo>
                  <a:lnTo>
                    <a:pt x="0" y="13816841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271157"/>
            <a:ext cx="16230600" cy="6987143"/>
            <a:chOff x="0" y="0"/>
            <a:chExt cx="6851469" cy="29495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2947527"/>
            </a:xfrm>
            <a:custGeom>
              <a:avLst/>
              <a:gdLst/>
              <a:ahLst/>
              <a:cxnLst/>
              <a:rect r="r" b="b" t="t" l="l"/>
              <a:pathLst>
                <a:path h="2947527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58411"/>
                    <a:pt x="16510" y="287655"/>
                    <a:pt x="17780" y="414632"/>
                  </a:cubicBezTo>
                  <a:cubicBezTo>
                    <a:pt x="19050" y="543876"/>
                    <a:pt x="17780" y="673120"/>
                    <a:pt x="16510" y="804631"/>
                  </a:cubicBezTo>
                  <a:cubicBezTo>
                    <a:pt x="15240" y="938410"/>
                    <a:pt x="2540" y="2341955"/>
                    <a:pt x="2540" y="2475734"/>
                  </a:cubicBezTo>
                  <a:cubicBezTo>
                    <a:pt x="2540" y="2607245"/>
                    <a:pt x="1270" y="2738757"/>
                    <a:pt x="0" y="2870268"/>
                  </a:cubicBezTo>
                  <a:cubicBezTo>
                    <a:pt x="0" y="2892916"/>
                    <a:pt x="3810" y="2903076"/>
                    <a:pt x="15240" y="2908156"/>
                  </a:cubicBezTo>
                  <a:cubicBezTo>
                    <a:pt x="22860" y="2911966"/>
                    <a:pt x="31750" y="2914506"/>
                    <a:pt x="40640" y="2915776"/>
                  </a:cubicBezTo>
                  <a:cubicBezTo>
                    <a:pt x="188388" y="2920856"/>
                    <a:pt x="394007" y="2924666"/>
                    <a:pt x="599625" y="2929746"/>
                  </a:cubicBezTo>
                  <a:cubicBezTo>
                    <a:pt x="713257" y="2932286"/>
                    <a:pt x="826888" y="2937366"/>
                    <a:pt x="940520" y="2938636"/>
                  </a:cubicBezTo>
                  <a:cubicBezTo>
                    <a:pt x="1129906" y="2941176"/>
                    <a:pt x="3240205" y="2942446"/>
                    <a:pt x="3429591" y="2943716"/>
                  </a:cubicBezTo>
                  <a:cubicBezTo>
                    <a:pt x="3456646" y="2943716"/>
                    <a:pt x="3483701" y="2943716"/>
                    <a:pt x="3510756" y="2943716"/>
                  </a:cubicBezTo>
                  <a:cubicBezTo>
                    <a:pt x="3640621" y="2943716"/>
                    <a:pt x="3775897" y="2942446"/>
                    <a:pt x="3905761" y="2942446"/>
                  </a:cubicBezTo>
                  <a:cubicBezTo>
                    <a:pt x="4057270" y="2942446"/>
                    <a:pt x="4203367" y="2943716"/>
                    <a:pt x="4354876" y="2943716"/>
                  </a:cubicBezTo>
                  <a:cubicBezTo>
                    <a:pt x="4576728" y="2943716"/>
                    <a:pt x="4803991" y="2943716"/>
                    <a:pt x="5025843" y="2943716"/>
                  </a:cubicBezTo>
                  <a:cubicBezTo>
                    <a:pt x="5231462" y="2943716"/>
                    <a:pt x="5437081" y="2944986"/>
                    <a:pt x="5642700" y="2946256"/>
                  </a:cubicBezTo>
                  <a:cubicBezTo>
                    <a:pt x="5734687" y="2946256"/>
                    <a:pt x="5832086" y="2947526"/>
                    <a:pt x="5924073" y="2947526"/>
                  </a:cubicBezTo>
                  <a:cubicBezTo>
                    <a:pt x="6221680" y="2946256"/>
                    <a:pt x="6513874" y="2939906"/>
                    <a:pt x="6791779" y="2939906"/>
                  </a:cubicBezTo>
                  <a:cubicBezTo>
                    <a:pt x="6795589" y="2939906"/>
                    <a:pt x="6800669" y="2937366"/>
                    <a:pt x="6804479" y="2934826"/>
                  </a:cubicBezTo>
                  <a:cubicBezTo>
                    <a:pt x="6809559" y="2931016"/>
                    <a:pt x="6812099" y="2924666"/>
                    <a:pt x="6814639" y="2922126"/>
                  </a:cubicBezTo>
                  <a:cubicBezTo>
                    <a:pt x="6815909" y="2854396"/>
                    <a:pt x="6817179" y="2759163"/>
                    <a:pt x="6818449" y="2663931"/>
                  </a:cubicBezTo>
                  <a:cubicBezTo>
                    <a:pt x="6819719" y="2516547"/>
                    <a:pt x="6829879" y="1101666"/>
                    <a:pt x="6831149" y="954282"/>
                  </a:cubicBezTo>
                  <a:cubicBezTo>
                    <a:pt x="6831149" y="865852"/>
                    <a:pt x="6832419" y="777422"/>
                    <a:pt x="6833689" y="688992"/>
                  </a:cubicBezTo>
                  <a:cubicBezTo>
                    <a:pt x="6834959" y="593760"/>
                    <a:pt x="6836229" y="498527"/>
                    <a:pt x="6838769" y="403295"/>
                  </a:cubicBezTo>
                  <a:cubicBezTo>
                    <a:pt x="6840039" y="346609"/>
                    <a:pt x="6840039" y="287655"/>
                    <a:pt x="6845119" y="230969"/>
                  </a:cubicBezTo>
                  <a:cubicBezTo>
                    <a:pt x="6850199" y="162946"/>
                    <a:pt x="6852739" y="97191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11074" y="5044463"/>
            <a:ext cx="4666378" cy="2827473"/>
            <a:chOff x="0" y="0"/>
            <a:chExt cx="2987729" cy="1810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564"/>
              <a:ext cx="2988053" cy="1808363"/>
            </a:xfrm>
            <a:custGeom>
              <a:avLst/>
              <a:gdLst/>
              <a:ahLst/>
              <a:cxnLst/>
              <a:rect r="r" b="b" t="t" l="l"/>
              <a:pathLst>
                <a:path h="1808363" w="2988053">
                  <a:moveTo>
                    <a:pt x="2977569" y="27234"/>
                  </a:moveTo>
                  <a:cubicBezTo>
                    <a:pt x="2968679" y="23424"/>
                    <a:pt x="2959789" y="20884"/>
                    <a:pt x="2950899" y="20884"/>
                  </a:cubicBezTo>
                  <a:cubicBezTo>
                    <a:pt x="2924229" y="19614"/>
                    <a:pt x="2879980" y="19614"/>
                    <a:pt x="2831611" y="17074"/>
                  </a:cubicBezTo>
                  <a:cubicBezTo>
                    <a:pt x="2721053" y="11994"/>
                    <a:pt x="2612798" y="5644"/>
                    <a:pt x="2502240" y="3104"/>
                  </a:cubicBezTo>
                  <a:cubicBezTo>
                    <a:pt x="2412411" y="564"/>
                    <a:pt x="2324886" y="3104"/>
                    <a:pt x="2235058" y="1834"/>
                  </a:cubicBezTo>
                  <a:cubicBezTo>
                    <a:pt x="2195902" y="1834"/>
                    <a:pt x="2156746" y="-706"/>
                    <a:pt x="2117590" y="1834"/>
                  </a:cubicBezTo>
                  <a:cubicBezTo>
                    <a:pt x="2023155" y="9454"/>
                    <a:pt x="1928720" y="10724"/>
                    <a:pt x="1831981" y="8184"/>
                  </a:cubicBezTo>
                  <a:cubicBezTo>
                    <a:pt x="1783612" y="6914"/>
                    <a:pt x="1735243" y="6914"/>
                    <a:pt x="1686874" y="6914"/>
                  </a:cubicBezTo>
                  <a:cubicBezTo>
                    <a:pt x="1599349" y="6914"/>
                    <a:pt x="1511824" y="6914"/>
                    <a:pt x="1424299" y="5644"/>
                  </a:cubicBezTo>
                  <a:cubicBezTo>
                    <a:pt x="1332167" y="4374"/>
                    <a:pt x="424669" y="1834"/>
                    <a:pt x="334841" y="564"/>
                  </a:cubicBezTo>
                  <a:cubicBezTo>
                    <a:pt x="261136" y="-706"/>
                    <a:pt x="189734" y="564"/>
                    <a:pt x="116028" y="564"/>
                  </a:cubicBezTo>
                  <a:cubicBezTo>
                    <a:pt x="653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0741"/>
                    <a:pt x="16510" y="197758"/>
                    <a:pt x="17780" y="273424"/>
                  </a:cubicBezTo>
                  <a:cubicBezTo>
                    <a:pt x="19050" y="350440"/>
                    <a:pt x="17780" y="427457"/>
                    <a:pt x="16510" y="505825"/>
                  </a:cubicBezTo>
                  <a:cubicBezTo>
                    <a:pt x="15240" y="585544"/>
                    <a:pt x="2540" y="1421920"/>
                    <a:pt x="2540" y="1501639"/>
                  </a:cubicBezTo>
                  <a:cubicBezTo>
                    <a:pt x="2540" y="1580007"/>
                    <a:pt x="1270" y="1658375"/>
                    <a:pt x="0" y="1736743"/>
                  </a:cubicBezTo>
                  <a:cubicBezTo>
                    <a:pt x="0" y="1753752"/>
                    <a:pt x="3810" y="1763912"/>
                    <a:pt x="15240" y="1768992"/>
                  </a:cubicBezTo>
                  <a:cubicBezTo>
                    <a:pt x="22860" y="1772802"/>
                    <a:pt x="31750" y="1775342"/>
                    <a:pt x="40640" y="1776612"/>
                  </a:cubicBezTo>
                  <a:cubicBezTo>
                    <a:pt x="113725" y="1781692"/>
                    <a:pt x="201250" y="1785502"/>
                    <a:pt x="288775" y="1790582"/>
                  </a:cubicBezTo>
                  <a:cubicBezTo>
                    <a:pt x="337144" y="1793122"/>
                    <a:pt x="385513" y="1798202"/>
                    <a:pt x="433882" y="1799472"/>
                  </a:cubicBezTo>
                  <a:cubicBezTo>
                    <a:pt x="514498" y="1802012"/>
                    <a:pt x="1412782" y="1803282"/>
                    <a:pt x="1493397" y="1804552"/>
                  </a:cubicBezTo>
                  <a:cubicBezTo>
                    <a:pt x="1504914" y="1804552"/>
                    <a:pt x="1516430" y="1804552"/>
                    <a:pt x="1527947" y="1804552"/>
                  </a:cubicBezTo>
                  <a:cubicBezTo>
                    <a:pt x="1583226" y="1804552"/>
                    <a:pt x="1640808" y="1803282"/>
                    <a:pt x="1696087" y="1803282"/>
                  </a:cubicBezTo>
                  <a:cubicBezTo>
                    <a:pt x="1760579" y="1803282"/>
                    <a:pt x="1822768" y="1804552"/>
                    <a:pt x="1887260" y="1804552"/>
                  </a:cubicBezTo>
                  <a:cubicBezTo>
                    <a:pt x="1981695" y="1804552"/>
                    <a:pt x="2078434" y="1804552"/>
                    <a:pt x="2172869" y="1804552"/>
                  </a:cubicBezTo>
                  <a:cubicBezTo>
                    <a:pt x="2260394" y="1804552"/>
                    <a:pt x="2347919" y="1805822"/>
                    <a:pt x="2435444" y="1807092"/>
                  </a:cubicBezTo>
                  <a:cubicBezTo>
                    <a:pt x="2474600" y="1807092"/>
                    <a:pt x="2516059" y="1808362"/>
                    <a:pt x="2555215" y="1808362"/>
                  </a:cubicBezTo>
                  <a:cubicBezTo>
                    <a:pt x="2681896" y="1807092"/>
                    <a:pt x="2806274" y="1800742"/>
                    <a:pt x="2928039" y="1800742"/>
                  </a:cubicBezTo>
                  <a:cubicBezTo>
                    <a:pt x="2931849" y="1800742"/>
                    <a:pt x="2936929" y="1798202"/>
                    <a:pt x="2940739" y="1795662"/>
                  </a:cubicBezTo>
                  <a:cubicBezTo>
                    <a:pt x="2945819" y="1791852"/>
                    <a:pt x="2948359" y="1785502"/>
                    <a:pt x="2950899" y="1782962"/>
                  </a:cubicBezTo>
                  <a:cubicBezTo>
                    <a:pt x="2952169" y="1727284"/>
                    <a:pt x="2953439" y="1670535"/>
                    <a:pt x="2954709" y="1613786"/>
                  </a:cubicBezTo>
                  <a:cubicBezTo>
                    <a:pt x="2955979" y="1525960"/>
                    <a:pt x="2966139" y="682829"/>
                    <a:pt x="2967409" y="595002"/>
                  </a:cubicBezTo>
                  <a:cubicBezTo>
                    <a:pt x="2967409" y="542307"/>
                    <a:pt x="2968679" y="489611"/>
                    <a:pt x="2969949" y="436915"/>
                  </a:cubicBezTo>
                  <a:cubicBezTo>
                    <a:pt x="2971219" y="380166"/>
                    <a:pt x="2972489" y="323417"/>
                    <a:pt x="2975029" y="266668"/>
                  </a:cubicBezTo>
                  <a:cubicBezTo>
                    <a:pt x="2976299" y="232888"/>
                    <a:pt x="2976299" y="197758"/>
                    <a:pt x="2981379" y="163979"/>
                  </a:cubicBezTo>
                  <a:cubicBezTo>
                    <a:pt x="2986459" y="123443"/>
                    <a:pt x="2988999" y="84259"/>
                    <a:pt x="2987729" y="43744"/>
                  </a:cubicBezTo>
                  <a:cubicBezTo>
                    <a:pt x="2987729" y="37394"/>
                    <a:pt x="2983919" y="29774"/>
                    <a:pt x="2977569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76387" y="3737919"/>
            <a:ext cx="4933161" cy="3070160"/>
            <a:chOff x="0" y="0"/>
            <a:chExt cx="3112087" cy="19368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564"/>
              <a:ext cx="3112411" cy="1934836"/>
            </a:xfrm>
            <a:custGeom>
              <a:avLst/>
              <a:gdLst/>
              <a:ahLst/>
              <a:cxnLst/>
              <a:rect r="r" b="b" t="t" l="l"/>
              <a:pathLst>
                <a:path h="1934836" w="3112411">
                  <a:moveTo>
                    <a:pt x="3101927" y="27234"/>
                  </a:moveTo>
                  <a:cubicBezTo>
                    <a:pt x="3093037" y="23424"/>
                    <a:pt x="3084147" y="20884"/>
                    <a:pt x="3075257" y="20884"/>
                  </a:cubicBezTo>
                  <a:cubicBezTo>
                    <a:pt x="3048587" y="19614"/>
                    <a:pt x="3002513" y="19614"/>
                    <a:pt x="2952043" y="17074"/>
                  </a:cubicBezTo>
                  <a:cubicBezTo>
                    <a:pt x="2836684" y="11994"/>
                    <a:pt x="2723728" y="5644"/>
                    <a:pt x="2608369" y="3104"/>
                  </a:cubicBezTo>
                  <a:cubicBezTo>
                    <a:pt x="2514639" y="564"/>
                    <a:pt x="2423313" y="3104"/>
                    <a:pt x="2329584" y="1834"/>
                  </a:cubicBezTo>
                  <a:cubicBezTo>
                    <a:pt x="2288727" y="1834"/>
                    <a:pt x="2247871" y="-706"/>
                    <a:pt x="2207015" y="1834"/>
                  </a:cubicBezTo>
                  <a:cubicBezTo>
                    <a:pt x="2108478" y="9454"/>
                    <a:pt x="2009942" y="10724"/>
                    <a:pt x="1909003" y="8184"/>
                  </a:cubicBezTo>
                  <a:cubicBezTo>
                    <a:pt x="1858533" y="6914"/>
                    <a:pt x="1808064" y="6914"/>
                    <a:pt x="1757594" y="6914"/>
                  </a:cubicBezTo>
                  <a:cubicBezTo>
                    <a:pt x="1666268" y="6914"/>
                    <a:pt x="1574942" y="6914"/>
                    <a:pt x="1483616" y="5644"/>
                  </a:cubicBezTo>
                  <a:cubicBezTo>
                    <a:pt x="1387483" y="4374"/>
                    <a:pt x="440576" y="1834"/>
                    <a:pt x="346846" y="564"/>
                  </a:cubicBezTo>
                  <a:cubicBezTo>
                    <a:pt x="269940" y="-706"/>
                    <a:pt x="195437" y="564"/>
                    <a:pt x="118531" y="564"/>
                  </a:cubicBezTo>
                  <a:cubicBezTo>
                    <a:pt x="65658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4923"/>
                    <a:pt x="16510" y="207739"/>
                    <a:pt x="17780" y="289101"/>
                  </a:cubicBezTo>
                  <a:cubicBezTo>
                    <a:pt x="19050" y="371916"/>
                    <a:pt x="17780" y="454731"/>
                    <a:pt x="16510" y="538999"/>
                  </a:cubicBezTo>
                  <a:cubicBezTo>
                    <a:pt x="15240" y="624721"/>
                    <a:pt x="2540" y="1524065"/>
                    <a:pt x="2540" y="1609786"/>
                  </a:cubicBezTo>
                  <a:cubicBezTo>
                    <a:pt x="2540" y="1694054"/>
                    <a:pt x="1270" y="1778322"/>
                    <a:pt x="0" y="1862590"/>
                  </a:cubicBezTo>
                  <a:cubicBezTo>
                    <a:pt x="0" y="1880225"/>
                    <a:pt x="3810" y="1890385"/>
                    <a:pt x="15240" y="1895466"/>
                  </a:cubicBezTo>
                  <a:cubicBezTo>
                    <a:pt x="22860" y="1899275"/>
                    <a:pt x="31750" y="1901816"/>
                    <a:pt x="40640" y="1903085"/>
                  </a:cubicBezTo>
                  <a:cubicBezTo>
                    <a:pt x="116128" y="1908166"/>
                    <a:pt x="207454" y="1911975"/>
                    <a:pt x="298780" y="1917056"/>
                  </a:cubicBezTo>
                  <a:cubicBezTo>
                    <a:pt x="349250" y="1919596"/>
                    <a:pt x="399719" y="1924675"/>
                    <a:pt x="450189" y="1925946"/>
                  </a:cubicBezTo>
                  <a:cubicBezTo>
                    <a:pt x="534305" y="1928485"/>
                    <a:pt x="1471599" y="1929756"/>
                    <a:pt x="1555715" y="1931025"/>
                  </a:cubicBezTo>
                  <a:cubicBezTo>
                    <a:pt x="1567732" y="1931025"/>
                    <a:pt x="1579749" y="1931025"/>
                    <a:pt x="1591765" y="1931025"/>
                  </a:cubicBezTo>
                  <a:cubicBezTo>
                    <a:pt x="1649445" y="1931025"/>
                    <a:pt x="1709528" y="1929756"/>
                    <a:pt x="1767207" y="1929756"/>
                  </a:cubicBezTo>
                  <a:cubicBezTo>
                    <a:pt x="1834500" y="1929756"/>
                    <a:pt x="1899390" y="1931025"/>
                    <a:pt x="1966683" y="1931025"/>
                  </a:cubicBezTo>
                  <a:cubicBezTo>
                    <a:pt x="2065219" y="1931025"/>
                    <a:pt x="2166158" y="1931025"/>
                    <a:pt x="2264694" y="1931025"/>
                  </a:cubicBezTo>
                  <a:cubicBezTo>
                    <a:pt x="2356020" y="1931025"/>
                    <a:pt x="2447346" y="1932296"/>
                    <a:pt x="2538672" y="1933566"/>
                  </a:cubicBezTo>
                  <a:cubicBezTo>
                    <a:pt x="2579529" y="1933566"/>
                    <a:pt x="2622789" y="1934835"/>
                    <a:pt x="2663645" y="1934835"/>
                  </a:cubicBezTo>
                  <a:cubicBezTo>
                    <a:pt x="2795827" y="1933566"/>
                    <a:pt x="2925607" y="1927216"/>
                    <a:pt x="3052397" y="1927216"/>
                  </a:cubicBezTo>
                  <a:cubicBezTo>
                    <a:pt x="3056207" y="1927216"/>
                    <a:pt x="3061287" y="1924675"/>
                    <a:pt x="3065097" y="1922135"/>
                  </a:cubicBezTo>
                  <a:cubicBezTo>
                    <a:pt x="3070177" y="1918325"/>
                    <a:pt x="3072717" y="1911975"/>
                    <a:pt x="3075257" y="1909435"/>
                  </a:cubicBezTo>
                  <a:cubicBezTo>
                    <a:pt x="3076527" y="1852420"/>
                    <a:pt x="3077797" y="1791398"/>
                    <a:pt x="3079067" y="1730376"/>
                  </a:cubicBezTo>
                  <a:cubicBezTo>
                    <a:pt x="3080337" y="1635938"/>
                    <a:pt x="3090497" y="729329"/>
                    <a:pt x="3091767" y="634891"/>
                  </a:cubicBezTo>
                  <a:cubicBezTo>
                    <a:pt x="3091767" y="578228"/>
                    <a:pt x="3093037" y="521565"/>
                    <a:pt x="3094307" y="464902"/>
                  </a:cubicBezTo>
                  <a:cubicBezTo>
                    <a:pt x="3095577" y="403880"/>
                    <a:pt x="3096847" y="342858"/>
                    <a:pt x="3099387" y="281836"/>
                  </a:cubicBezTo>
                  <a:cubicBezTo>
                    <a:pt x="3100657" y="245514"/>
                    <a:pt x="3100657" y="207739"/>
                    <a:pt x="3105737" y="171416"/>
                  </a:cubicBezTo>
                  <a:cubicBezTo>
                    <a:pt x="3110817" y="127829"/>
                    <a:pt x="3113357" y="85695"/>
                    <a:pt x="3112087" y="43744"/>
                  </a:cubicBezTo>
                  <a:cubicBezTo>
                    <a:pt x="3112087" y="37394"/>
                    <a:pt x="3108277" y="29774"/>
                    <a:pt x="3101927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228688">
            <a:off x="1978891" y="4442389"/>
            <a:ext cx="3090948" cy="1017203"/>
          </a:xfrm>
          <a:custGeom>
            <a:avLst/>
            <a:gdLst/>
            <a:ahLst/>
            <a:cxnLst/>
            <a:rect r="r" b="b" t="t" l="l"/>
            <a:pathLst>
              <a:path h="1017203" w="3090948">
                <a:moveTo>
                  <a:pt x="0" y="0"/>
                </a:moveTo>
                <a:lnTo>
                  <a:pt x="3090948" y="0"/>
                </a:lnTo>
                <a:lnTo>
                  <a:pt x="3090948" y="1017203"/>
                </a:lnTo>
                <a:lnTo>
                  <a:pt x="0" y="1017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81770" y="1070551"/>
            <a:ext cx="1114182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</a:pPr>
            <a:r>
              <a:rPr lang="en-US" b="true" sz="5000" spc="-50">
                <a:solidFill>
                  <a:srgbClr val="FFFFFF"/>
                </a:solidFill>
                <a:latin typeface="Bogart Bold"/>
                <a:ea typeface="Bogart Bold"/>
                <a:cs typeface="Bogart Bold"/>
                <a:sym typeface="Bogart Bold"/>
              </a:rPr>
              <a:t>DATA &amp; 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2167" y="5696199"/>
            <a:ext cx="3804394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Jenis: Data Primer (Kuesioner Google Form).</a:t>
            </a:r>
          </a:p>
          <a:p>
            <a:pPr algn="ctr">
              <a:lnSpc>
                <a:spcPts val="1199"/>
              </a:lnSpc>
            </a:pPr>
          </a:p>
          <a:p>
            <a:pPr algn="ctr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Lokasi: Penyandang Thalassemia di Provinsi Lampung.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4695" y="4565863"/>
            <a:ext cx="437851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520"/>
              </a:lnSpc>
              <a:buAutoNum type="arabicPeriod" startAt="1"/>
            </a:pPr>
            <a:r>
              <a:rPr lang="en-US" b="true" sz="2100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Umur Saat Terdeteksi (Tahun): Kuantitatif Kontinu.</a:t>
            </a:r>
          </a:p>
          <a:p>
            <a:pPr algn="ctr" marL="453390" indent="-226695" lvl="1">
              <a:lnSpc>
                <a:spcPts val="2520"/>
              </a:lnSpc>
              <a:buAutoNum type="arabicPeriod" startAt="1"/>
            </a:pPr>
            <a:r>
              <a:rPr lang="en-US" b="true" sz="2100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Asal Kabupaten/Kota: Kualitatif Diskrit (Kategori).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494685">
            <a:off x="7175256" y="3113700"/>
            <a:ext cx="3283117" cy="1080444"/>
          </a:xfrm>
          <a:custGeom>
            <a:avLst/>
            <a:gdLst/>
            <a:ahLst/>
            <a:cxnLst/>
            <a:rect r="r" b="b" t="t" l="l"/>
            <a:pathLst>
              <a:path h="1080444" w="3283117">
                <a:moveTo>
                  <a:pt x="0" y="0"/>
                </a:moveTo>
                <a:lnTo>
                  <a:pt x="3283117" y="0"/>
                </a:lnTo>
                <a:lnTo>
                  <a:pt x="3283117" y="1080444"/>
                </a:lnTo>
                <a:lnTo>
                  <a:pt x="0" y="108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946191">
            <a:off x="14765511" y="966203"/>
            <a:ext cx="1356904" cy="1767432"/>
          </a:xfrm>
          <a:custGeom>
            <a:avLst/>
            <a:gdLst/>
            <a:ahLst/>
            <a:cxnLst/>
            <a:rect r="r" b="b" t="t" l="l"/>
            <a:pathLst>
              <a:path h="1767432" w="1356904">
                <a:moveTo>
                  <a:pt x="0" y="0"/>
                </a:moveTo>
                <a:lnTo>
                  <a:pt x="1356904" y="0"/>
                </a:lnTo>
                <a:lnTo>
                  <a:pt x="1356904" y="1767433"/>
                </a:lnTo>
                <a:lnTo>
                  <a:pt x="0" y="1767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3589" t="0" r="0" b="-7977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531975">
            <a:off x="15680175" y="2251585"/>
            <a:ext cx="1121060" cy="1052053"/>
          </a:xfrm>
          <a:custGeom>
            <a:avLst/>
            <a:gdLst/>
            <a:ahLst/>
            <a:cxnLst/>
            <a:rect r="r" b="b" t="t" l="l"/>
            <a:pathLst>
              <a:path h="1052053" w="1121060">
                <a:moveTo>
                  <a:pt x="0" y="0"/>
                </a:moveTo>
                <a:lnTo>
                  <a:pt x="1121060" y="0"/>
                </a:lnTo>
                <a:lnTo>
                  <a:pt x="1121060" y="1052054"/>
                </a:lnTo>
                <a:lnTo>
                  <a:pt x="0" y="1052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035113">
            <a:off x="15809915" y="939140"/>
            <a:ext cx="1492443" cy="847020"/>
          </a:xfrm>
          <a:custGeom>
            <a:avLst/>
            <a:gdLst/>
            <a:ahLst/>
            <a:cxnLst/>
            <a:rect r="r" b="b" t="t" l="l"/>
            <a:pathLst>
              <a:path h="847020" w="1492443">
                <a:moveTo>
                  <a:pt x="0" y="0"/>
                </a:moveTo>
                <a:lnTo>
                  <a:pt x="1492444" y="0"/>
                </a:lnTo>
                <a:lnTo>
                  <a:pt x="1492444" y="847021"/>
                </a:lnTo>
                <a:lnTo>
                  <a:pt x="0" y="847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5893" t="0" r="-128308" b="-27512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24256" y="854292"/>
            <a:ext cx="1541785" cy="1416865"/>
          </a:xfrm>
          <a:custGeom>
            <a:avLst/>
            <a:gdLst/>
            <a:ahLst/>
            <a:cxnLst/>
            <a:rect r="r" b="b" t="t" l="l"/>
            <a:pathLst>
              <a:path h="1416865" w="1541785">
                <a:moveTo>
                  <a:pt x="0" y="0"/>
                </a:moveTo>
                <a:lnTo>
                  <a:pt x="1541785" y="0"/>
                </a:lnTo>
                <a:lnTo>
                  <a:pt x="1541785" y="1416865"/>
                </a:lnTo>
                <a:lnTo>
                  <a:pt x="0" y="1416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70" t="-52897" r="-134299" b="-3259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1074" y="1967715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3" y="0"/>
                </a:lnTo>
                <a:lnTo>
                  <a:pt x="1274853" y="1469931"/>
                </a:lnTo>
                <a:lnTo>
                  <a:pt x="0" y="1469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83402" y="4680163"/>
            <a:ext cx="2281926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Sumber Data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93535" y="4514145"/>
            <a:ext cx="5039507" cy="3830958"/>
            <a:chOff x="0" y="0"/>
            <a:chExt cx="3515386" cy="26723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-564"/>
              <a:ext cx="3515709" cy="2670368"/>
            </a:xfrm>
            <a:custGeom>
              <a:avLst/>
              <a:gdLst/>
              <a:ahLst/>
              <a:cxnLst/>
              <a:rect r="r" b="b" t="t" l="l"/>
              <a:pathLst>
                <a:path h="2670368" w="3515709">
                  <a:moveTo>
                    <a:pt x="3505226" y="27234"/>
                  </a:moveTo>
                  <a:cubicBezTo>
                    <a:pt x="3496335" y="23424"/>
                    <a:pt x="3487446" y="20884"/>
                    <a:pt x="3478556" y="20884"/>
                  </a:cubicBezTo>
                  <a:cubicBezTo>
                    <a:pt x="3451885" y="19614"/>
                    <a:pt x="3399894" y="19614"/>
                    <a:pt x="3342612" y="17074"/>
                  </a:cubicBezTo>
                  <a:cubicBezTo>
                    <a:pt x="3211682" y="11994"/>
                    <a:pt x="3083480" y="5644"/>
                    <a:pt x="2952550" y="3104"/>
                  </a:cubicBezTo>
                  <a:cubicBezTo>
                    <a:pt x="2846170" y="564"/>
                    <a:pt x="2742517" y="3104"/>
                    <a:pt x="2636137" y="1834"/>
                  </a:cubicBezTo>
                  <a:cubicBezTo>
                    <a:pt x="2589766" y="1834"/>
                    <a:pt x="2543395" y="-706"/>
                    <a:pt x="2497024" y="1834"/>
                  </a:cubicBezTo>
                  <a:cubicBezTo>
                    <a:pt x="2385188" y="9454"/>
                    <a:pt x="2273352" y="10724"/>
                    <a:pt x="2158789" y="8184"/>
                  </a:cubicBezTo>
                  <a:cubicBezTo>
                    <a:pt x="2101507" y="6914"/>
                    <a:pt x="2044225" y="6914"/>
                    <a:pt x="1986943" y="6914"/>
                  </a:cubicBezTo>
                  <a:cubicBezTo>
                    <a:pt x="1883290" y="6914"/>
                    <a:pt x="1779638" y="6914"/>
                    <a:pt x="1675985" y="5644"/>
                  </a:cubicBezTo>
                  <a:cubicBezTo>
                    <a:pt x="1566877" y="4374"/>
                    <a:pt x="492161" y="1834"/>
                    <a:pt x="385781" y="564"/>
                  </a:cubicBezTo>
                  <a:cubicBezTo>
                    <a:pt x="298494" y="-706"/>
                    <a:pt x="213936" y="564"/>
                    <a:pt x="126649" y="564"/>
                  </a:cubicBezTo>
                  <a:cubicBezTo>
                    <a:pt x="66639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49246"/>
                    <a:pt x="16510" y="265783"/>
                    <a:pt x="17780" y="380276"/>
                  </a:cubicBezTo>
                  <a:cubicBezTo>
                    <a:pt x="19050" y="496813"/>
                    <a:pt x="17780" y="613350"/>
                    <a:pt x="16510" y="731932"/>
                  </a:cubicBezTo>
                  <a:cubicBezTo>
                    <a:pt x="15240" y="852558"/>
                    <a:pt x="2540" y="2118110"/>
                    <a:pt x="2540" y="2238736"/>
                  </a:cubicBezTo>
                  <a:cubicBezTo>
                    <a:pt x="2540" y="2357318"/>
                    <a:pt x="1270" y="2475899"/>
                    <a:pt x="0" y="2594481"/>
                  </a:cubicBezTo>
                  <a:cubicBezTo>
                    <a:pt x="0" y="2615757"/>
                    <a:pt x="3810" y="2625918"/>
                    <a:pt x="15240" y="2630998"/>
                  </a:cubicBezTo>
                  <a:cubicBezTo>
                    <a:pt x="22860" y="2634807"/>
                    <a:pt x="31750" y="2637348"/>
                    <a:pt x="40640" y="2638618"/>
                  </a:cubicBezTo>
                  <a:cubicBezTo>
                    <a:pt x="123921" y="2643698"/>
                    <a:pt x="227574" y="2647507"/>
                    <a:pt x="331227" y="2652588"/>
                  </a:cubicBezTo>
                  <a:cubicBezTo>
                    <a:pt x="388508" y="2655128"/>
                    <a:pt x="445790" y="2660207"/>
                    <a:pt x="503072" y="2661478"/>
                  </a:cubicBezTo>
                  <a:cubicBezTo>
                    <a:pt x="598542" y="2664018"/>
                    <a:pt x="1662346" y="2665288"/>
                    <a:pt x="1757816" y="2666557"/>
                  </a:cubicBezTo>
                  <a:cubicBezTo>
                    <a:pt x="1771454" y="2666557"/>
                    <a:pt x="1785093" y="2666557"/>
                    <a:pt x="1798731" y="2666557"/>
                  </a:cubicBezTo>
                  <a:cubicBezTo>
                    <a:pt x="1864196" y="2666557"/>
                    <a:pt x="1932389" y="2665288"/>
                    <a:pt x="1997854" y="2665288"/>
                  </a:cubicBezTo>
                  <a:cubicBezTo>
                    <a:pt x="2074230" y="2665288"/>
                    <a:pt x="2147877" y="2666557"/>
                    <a:pt x="2224253" y="2666557"/>
                  </a:cubicBezTo>
                  <a:cubicBezTo>
                    <a:pt x="2336089" y="2666557"/>
                    <a:pt x="2450653" y="2666557"/>
                    <a:pt x="2562489" y="2666557"/>
                  </a:cubicBezTo>
                  <a:cubicBezTo>
                    <a:pt x="2666141" y="2666557"/>
                    <a:pt x="2769794" y="2667828"/>
                    <a:pt x="2873447" y="2669098"/>
                  </a:cubicBezTo>
                  <a:cubicBezTo>
                    <a:pt x="2919818" y="2669098"/>
                    <a:pt x="2968917" y="2670368"/>
                    <a:pt x="3015287" y="2670368"/>
                  </a:cubicBezTo>
                  <a:cubicBezTo>
                    <a:pt x="3165311" y="2669098"/>
                    <a:pt x="3312607" y="2662748"/>
                    <a:pt x="3455695" y="2662748"/>
                  </a:cubicBezTo>
                  <a:cubicBezTo>
                    <a:pt x="3459506" y="2662748"/>
                    <a:pt x="3464585" y="2660207"/>
                    <a:pt x="3468395" y="2657668"/>
                  </a:cubicBezTo>
                  <a:cubicBezTo>
                    <a:pt x="3473476" y="2653857"/>
                    <a:pt x="3476015" y="2647507"/>
                    <a:pt x="3478556" y="2644968"/>
                  </a:cubicBezTo>
                  <a:cubicBezTo>
                    <a:pt x="3479826" y="2580169"/>
                    <a:pt x="3481095" y="2494300"/>
                    <a:pt x="3482365" y="2408430"/>
                  </a:cubicBezTo>
                  <a:cubicBezTo>
                    <a:pt x="3483635" y="2275537"/>
                    <a:pt x="3493795" y="999763"/>
                    <a:pt x="3495065" y="866869"/>
                  </a:cubicBezTo>
                  <a:cubicBezTo>
                    <a:pt x="3495065" y="787133"/>
                    <a:pt x="3496335" y="707398"/>
                    <a:pt x="3497606" y="627662"/>
                  </a:cubicBezTo>
                  <a:cubicBezTo>
                    <a:pt x="3498876" y="541792"/>
                    <a:pt x="3500145" y="455923"/>
                    <a:pt x="3502685" y="370053"/>
                  </a:cubicBezTo>
                  <a:cubicBezTo>
                    <a:pt x="3503956" y="318941"/>
                    <a:pt x="3503956" y="265783"/>
                    <a:pt x="3509035" y="214671"/>
                  </a:cubicBezTo>
                  <a:cubicBezTo>
                    <a:pt x="3514115" y="153335"/>
                    <a:pt x="3516656" y="94044"/>
                    <a:pt x="3515385" y="43744"/>
                  </a:cubicBezTo>
                  <a:cubicBezTo>
                    <a:pt x="3515385" y="37394"/>
                    <a:pt x="3511576" y="29774"/>
                    <a:pt x="3505226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138628">
            <a:off x="11927031" y="3860288"/>
            <a:ext cx="4384922" cy="1443038"/>
          </a:xfrm>
          <a:custGeom>
            <a:avLst/>
            <a:gdLst/>
            <a:ahLst/>
            <a:cxnLst/>
            <a:rect r="r" b="b" t="t" l="l"/>
            <a:pathLst>
              <a:path h="1443038" w="4384922">
                <a:moveTo>
                  <a:pt x="0" y="0"/>
                </a:moveTo>
                <a:lnTo>
                  <a:pt x="4384923" y="0"/>
                </a:lnTo>
                <a:lnTo>
                  <a:pt x="4384923" y="1443039"/>
                </a:lnTo>
                <a:lnTo>
                  <a:pt x="0" y="1443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560519" y="3405002"/>
            <a:ext cx="2684039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Variabel Target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3997" y="4354795"/>
            <a:ext cx="3879533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Tahap Pembersihan 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66840" y="5479256"/>
            <a:ext cx="4218591" cy="240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2100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Umur: Casting ke numerik, membuang data NA dan outlier tidak logis.</a:t>
            </a:r>
          </a:p>
          <a:p>
            <a:pPr algn="ctr">
              <a:lnSpc>
                <a:spcPts val="2730"/>
              </a:lnSpc>
            </a:pPr>
            <a:r>
              <a:rPr lang="en-US" b="true" sz="2100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Asal: Normalisasi penulisan (huruf kapital/kecil, spasi) agar kategori wilayah konsisten.</a:t>
            </a:r>
          </a:p>
          <a:p>
            <a:pPr algn="ctr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3472009"/>
            </a:xfrm>
            <a:custGeom>
              <a:avLst/>
              <a:gdLst/>
              <a:ahLst/>
              <a:cxnLst/>
              <a:rect r="r" b="b" t="t" l="l"/>
              <a:pathLst>
                <a:path h="3472009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5755"/>
                    <a:pt x="16510" y="329045"/>
                    <a:pt x="17780" y="479646"/>
                  </a:cubicBezTo>
                  <a:cubicBezTo>
                    <a:pt x="19050" y="632936"/>
                    <a:pt x="17780" y="786225"/>
                    <a:pt x="16510" y="942205"/>
                  </a:cubicBezTo>
                  <a:cubicBezTo>
                    <a:pt x="15240" y="1100873"/>
                    <a:pt x="2540" y="2765548"/>
                    <a:pt x="2540" y="2924216"/>
                  </a:cubicBezTo>
                  <a:cubicBezTo>
                    <a:pt x="2540" y="3080195"/>
                    <a:pt x="1270" y="3236174"/>
                    <a:pt x="0" y="3392153"/>
                  </a:cubicBezTo>
                  <a:cubicBezTo>
                    <a:pt x="0" y="3417398"/>
                    <a:pt x="3810" y="3427558"/>
                    <a:pt x="15240" y="3432638"/>
                  </a:cubicBezTo>
                  <a:cubicBezTo>
                    <a:pt x="22860" y="3436448"/>
                    <a:pt x="31750" y="3438988"/>
                    <a:pt x="40640" y="3440258"/>
                  </a:cubicBezTo>
                  <a:cubicBezTo>
                    <a:pt x="188388" y="3445338"/>
                    <a:pt x="394007" y="3449148"/>
                    <a:pt x="599625" y="3454228"/>
                  </a:cubicBezTo>
                  <a:cubicBezTo>
                    <a:pt x="713257" y="3456768"/>
                    <a:pt x="826888" y="3461848"/>
                    <a:pt x="940520" y="3463118"/>
                  </a:cubicBezTo>
                  <a:cubicBezTo>
                    <a:pt x="1129906" y="3465658"/>
                    <a:pt x="3240205" y="3466928"/>
                    <a:pt x="3429591" y="3468198"/>
                  </a:cubicBezTo>
                  <a:cubicBezTo>
                    <a:pt x="3456646" y="3468198"/>
                    <a:pt x="3483701" y="3468198"/>
                    <a:pt x="3510756" y="3468198"/>
                  </a:cubicBezTo>
                  <a:cubicBezTo>
                    <a:pt x="3640621" y="3468198"/>
                    <a:pt x="3775897" y="3466928"/>
                    <a:pt x="3905761" y="3466928"/>
                  </a:cubicBezTo>
                  <a:cubicBezTo>
                    <a:pt x="4057270" y="3466928"/>
                    <a:pt x="4203367" y="3468198"/>
                    <a:pt x="4354876" y="3468198"/>
                  </a:cubicBezTo>
                  <a:cubicBezTo>
                    <a:pt x="4576728" y="3468198"/>
                    <a:pt x="4803991" y="3468198"/>
                    <a:pt x="5025843" y="3468198"/>
                  </a:cubicBezTo>
                  <a:cubicBezTo>
                    <a:pt x="5231462" y="3468198"/>
                    <a:pt x="5437081" y="3469468"/>
                    <a:pt x="5642700" y="3470738"/>
                  </a:cubicBezTo>
                  <a:cubicBezTo>
                    <a:pt x="5734687" y="3470738"/>
                    <a:pt x="5832086" y="3472008"/>
                    <a:pt x="5924073" y="3472008"/>
                  </a:cubicBezTo>
                  <a:cubicBezTo>
                    <a:pt x="6221680" y="3470738"/>
                    <a:pt x="6513874" y="3464388"/>
                    <a:pt x="6791779" y="3464388"/>
                  </a:cubicBezTo>
                  <a:cubicBezTo>
                    <a:pt x="6795589" y="3464388"/>
                    <a:pt x="6800669" y="3461848"/>
                    <a:pt x="6804479" y="3459308"/>
                  </a:cubicBezTo>
                  <a:cubicBezTo>
                    <a:pt x="6809559" y="3455498"/>
                    <a:pt x="6812099" y="3449148"/>
                    <a:pt x="6814639" y="3446608"/>
                  </a:cubicBezTo>
                  <a:cubicBezTo>
                    <a:pt x="6815909" y="3373328"/>
                    <a:pt x="6817179" y="3260378"/>
                    <a:pt x="6818449" y="3147427"/>
                  </a:cubicBezTo>
                  <a:cubicBezTo>
                    <a:pt x="6819719" y="2972623"/>
                    <a:pt x="6829879" y="1294502"/>
                    <a:pt x="6831149" y="1119698"/>
                  </a:cubicBezTo>
                  <a:cubicBezTo>
                    <a:pt x="6831149" y="1014815"/>
                    <a:pt x="6832419" y="909933"/>
                    <a:pt x="6833689" y="805050"/>
                  </a:cubicBezTo>
                  <a:cubicBezTo>
                    <a:pt x="6834959" y="692100"/>
                    <a:pt x="6836229" y="579150"/>
                    <a:pt x="6838769" y="466199"/>
                  </a:cubicBezTo>
                  <a:cubicBezTo>
                    <a:pt x="6840039" y="398967"/>
                    <a:pt x="6840039" y="329045"/>
                    <a:pt x="6845119" y="261813"/>
                  </a:cubicBezTo>
                  <a:cubicBezTo>
                    <a:pt x="6850199" y="181134"/>
                    <a:pt x="6852739" y="10314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75553" y="2175878"/>
            <a:ext cx="12602798" cy="1483706"/>
            <a:chOff x="0" y="0"/>
            <a:chExt cx="6656779" cy="783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564"/>
              <a:ext cx="6657102" cy="781715"/>
            </a:xfrm>
            <a:custGeom>
              <a:avLst/>
              <a:gdLst/>
              <a:ahLst/>
              <a:cxnLst/>
              <a:rect r="r" b="b" t="t" l="l"/>
              <a:pathLst>
                <a:path h="781715" w="6657102">
                  <a:moveTo>
                    <a:pt x="6646619" y="27234"/>
                  </a:moveTo>
                  <a:cubicBezTo>
                    <a:pt x="6637729" y="23424"/>
                    <a:pt x="6628839" y="20884"/>
                    <a:pt x="6619949" y="20884"/>
                  </a:cubicBezTo>
                  <a:cubicBezTo>
                    <a:pt x="6593279" y="19614"/>
                    <a:pt x="6495194" y="19614"/>
                    <a:pt x="6384851" y="17074"/>
                  </a:cubicBezTo>
                  <a:cubicBezTo>
                    <a:pt x="6132638" y="11994"/>
                    <a:pt x="5885681" y="5644"/>
                    <a:pt x="5633468" y="3104"/>
                  </a:cubicBezTo>
                  <a:cubicBezTo>
                    <a:pt x="5428545" y="564"/>
                    <a:pt x="5228877" y="3104"/>
                    <a:pt x="5023954" y="1834"/>
                  </a:cubicBezTo>
                  <a:cubicBezTo>
                    <a:pt x="4934629" y="1834"/>
                    <a:pt x="4845303" y="-706"/>
                    <a:pt x="4755978" y="1834"/>
                  </a:cubicBezTo>
                  <a:cubicBezTo>
                    <a:pt x="4540546" y="9454"/>
                    <a:pt x="4325115" y="10724"/>
                    <a:pt x="4104429" y="8184"/>
                  </a:cubicBezTo>
                  <a:cubicBezTo>
                    <a:pt x="3994086" y="6914"/>
                    <a:pt x="3883743" y="6914"/>
                    <a:pt x="3773400" y="6914"/>
                  </a:cubicBezTo>
                  <a:cubicBezTo>
                    <a:pt x="3573732" y="6914"/>
                    <a:pt x="3374064" y="6914"/>
                    <a:pt x="3174395" y="5644"/>
                  </a:cubicBezTo>
                  <a:cubicBezTo>
                    <a:pt x="2964218" y="4374"/>
                    <a:pt x="893973" y="1834"/>
                    <a:pt x="689051" y="564"/>
                  </a:cubicBezTo>
                  <a:cubicBezTo>
                    <a:pt x="520909" y="-706"/>
                    <a:pt x="358022" y="564"/>
                    <a:pt x="189880" y="564"/>
                  </a:cubicBezTo>
                  <a:cubicBezTo>
                    <a:pt x="74282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86792"/>
                    <a:pt x="16510" y="116740"/>
                    <a:pt x="17780" y="146163"/>
                  </a:cubicBezTo>
                  <a:cubicBezTo>
                    <a:pt x="19050" y="176111"/>
                    <a:pt x="17780" y="206059"/>
                    <a:pt x="16510" y="236532"/>
                  </a:cubicBezTo>
                  <a:cubicBezTo>
                    <a:pt x="15240" y="267531"/>
                    <a:pt x="2540" y="592758"/>
                    <a:pt x="2540" y="623757"/>
                  </a:cubicBezTo>
                  <a:cubicBezTo>
                    <a:pt x="2540" y="654230"/>
                    <a:pt x="1270" y="684704"/>
                    <a:pt x="0" y="715178"/>
                  </a:cubicBezTo>
                  <a:cubicBezTo>
                    <a:pt x="0" y="727105"/>
                    <a:pt x="3810" y="737265"/>
                    <a:pt x="15240" y="742345"/>
                  </a:cubicBezTo>
                  <a:cubicBezTo>
                    <a:pt x="22860" y="746155"/>
                    <a:pt x="31750" y="748695"/>
                    <a:pt x="40640" y="749965"/>
                  </a:cubicBezTo>
                  <a:cubicBezTo>
                    <a:pt x="184625" y="755045"/>
                    <a:pt x="384294" y="758855"/>
                    <a:pt x="583962" y="763935"/>
                  </a:cubicBezTo>
                  <a:cubicBezTo>
                    <a:pt x="694305" y="766475"/>
                    <a:pt x="804648" y="771555"/>
                    <a:pt x="914991" y="772825"/>
                  </a:cubicBezTo>
                  <a:cubicBezTo>
                    <a:pt x="1098896" y="775365"/>
                    <a:pt x="3148123" y="776635"/>
                    <a:pt x="3332028" y="777905"/>
                  </a:cubicBezTo>
                  <a:cubicBezTo>
                    <a:pt x="3358300" y="777905"/>
                    <a:pt x="3384572" y="777905"/>
                    <a:pt x="3410845" y="777905"/>
                  </a:cubicBezTo>
                  <a:cubicBezTo>
                    <a:pt x="3536951" y="777905"/>
                    <a:pt x="3668311" y="776635"/>
                    <a:pt x="3794418" y="776635"/>
                  </a:cubicBezTo>
                  <a:cubicBezTo>
                    <a:pt x="3941542" y="776635"/>
                    <a:pt x="4083411" y="777905"/>
                    <a:pt x="4230535" y="777905"/>
                  </a:cubicBezTo>
                  <a:cubicBezTo>
                    <a:pt x="4445967" y="777905"/>
                    <a:pt x="4666653" y="777905"/>
                    <a:pt x="4882085" y="777905"/>
                  </a:cubicBezTo>
                  <a:cubicBezTo>
                    <a:pt x="5081753" y="777905"/>
                    <a:pt x="5281421" y="779175"/>
                    <a:pt x="5481089" y="780445"/>
                  </a:cubicBezTo>
                  <a:cubicBezTo>
                    <a:pt x="5570415" y="780445"/>
                    <a:pt x="5664994" y="781715"/>
                    <a:pt x="5754319" y="781715"/>
                  </a:cubicBezTo>
                  <a:cubicBezTo>
                    <a:pt x="6043313" y="780445"/>
                    <a:pt x="6327052" y="774095"/>
                    <a:pt x="6597089" y="774095"/>
                  </a:cubicBezTo>
                  <a:cubicBezTo>
                    <a:pt x="6600899" y="774095"/>
                    <a:pt x="6605979" y="771555"/>
                    <a:pt x="6609789" y="769015"/>
                  </a:cubicBezTo>
                  <a:cubicBezTo>
                    <a:pt x="6614869" y="765205"/>
                    <a:pt x="6617408" y="758855"/>
                    <a:pt x="6619949" y="756315"/>
                  </a:cubicBezTo>
                  <a:cubicBezTo>
                    <a:pt x="6621219" y="711500"/>
                    <a:pt x="6622489" y="689433"/>
                    <a:pt x="6623758" y="667365"/>
                  </a:cubicBezTo>
                  <a:cubicBezTo>
                    <a:pt x="6625029" y="633214"/>
                    <a:pt x="6635189" y="305361"/>
                    <a:pt x="6636458" y="271209"/>
                  </a:cubicBezTo>
                  <a:cubicBezTo>
                    <a:pt x="6636458" y="250718"/>
                    <a:pt x="6637729" y="230228"/>
                    <a:pt x="6638999" y="209737"/>
                  </a:cubicBezTo>
                  <a:cubicBezTo>
                    <a:pt x="6640269" y="187670"/>
                    <a:pt x="6641539" y="165603"/>
                    <a:pt x="6644079" y="143536"/>
                  </a:cubicBezTo>
                  <a:cubicBezTo>
                    <a:pt x="6645349" y="130400"/>
                    <a:pt x="6645349" y="116740"/>
                    <a:pt x="6650429" y="103605"/>
                  </a:cubicBezTo>
                  <a:cubicBezTo>
                    <a:pt x="6655508" y="87842"/>
                    <a:pt x="6658049" y="72606"/>
                    <a:pt x="6656779" y="43744"/>
                  </a:cubicBezTo>
                  <a:cubicBezTo>
                    <a:pt x="6656779" y="37394"/>
                    <a:pt x="6652969" y="29774"/>
                    <a:pt x="6646619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75553" y="4453505"/>
            <a:ext cx="12602798" cy="1901207"/>
            <a:chOff x="0" y="0"/>
            <a:chExt cx="6656779" cy="10042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564"/>
              <a:ext cx="6657102" cy="1002239"/>
            </a:xfrm>
            <a:custGeom>
              <a:avLst/>
              <a:gdLst/>
              <a:ahLst/>
              <a:cxnLst/>
              <a:rect r="r" b="b" t="t" l="l"/>
              <a:pathLst>
                <a:path h="1002239" w="6657102">
                  <a:moveTo>
                    <a:pt x="6646619" y="27234"/>
                  </a:moveTo>
                  <a:cubicBezTo>
                    <a:pt x="6637729" y="23424"/>
                    <a:pt x="6628839" y="20884"/>
                    <a:pt x="6619949" y="20884"/>
                  </a:cubicBezTo>
                  <a:cubicBezTo>
                    <a:pt x="6593279" y="19614"/>
                    <a:pt x="6495194" y="19614"/>
                    <a:pt x="6384851" y="17074"/>
                  </a:cubicBezTo>
                  <a:cubicBezTo>
                    <a:pt x="6132638" y="11994"/>
                    <a:pt x="5885681" y="5644"/>
                    <a:pt x="5633468" y="3104"/>
                  </a:cubicBezTo>
                  <a:cubicBezTo>
                    <a:pt x="5428545" y="564"/>
                    <a:pt x="5228877" y="3104"/>
                    <a:pt x="5023954" y="1834"/>
                  </a:cubicBezTo>
                  <a:cubicBezTo>
                    <a:pt x="4934629" y="1834"/>
                    <a:pt x="4845303" y="-706"/>
                    <a:pt x="4755978" y="1834"/>
                  </a:cubicBezTo>
                  <a:cubicBezTo>
                    <a:pt x="4540546" y="9454"/>
                    <a:pt x="4325115" y="10724"/>
                    <a:pt x="4104429" y="8184"/>
                  </a:cubicBezTo>
                  <a:cubicBezTo>
                    <a:pt x="3994086" y="6914"/>
                    <a:pt x="3883743" y="6914"/>
                    <a:pt x="3773400" y="6914"/>
                  </a:cubicBezTo>
                  <a:cubicBezTo>
                    <a:pt x="3573732" y="6914"/>
                    <a:pt x="3374064" y="6914"/>
                    <a:pt x="3174395" y="5644"/>
                  </a:cubicBezTo>
                  <a:cubicBezTo>
                    <a:pt x="2964218" y="4374"/>
                    <a:pt x="893973" y="1834"/>
                    <a:pt x="689051" y="564"/>
                  </a:cubicBezTo>
                  <a:cubicBezTo>
                    <a:pt x="520909" y="-706"/>
                    <a:pt x="358022" y="564"/>
                    <a:pt x="189880" y="564"/>
                  </a:cubicBezTo>
                  <a:cubicBezTo>
                    <a:pt x="74282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94084"/>
                    <a:pt x="16510" y="134143"/>
                    <a:pt x="17780" y="173498"/>
                  </a:cubicBezTo>
                  <a:cubicBezTo>
                    <a:pt x="19050" y="213557"/>
                    <a:pt x="17780" y="253615"/>
                    <a:pt x="16510" y="294376"/>
                  </a:cubicBezTo>
                  <a:cubicBezTo>
                    <a:pt x="15240" y="335841"/>
                    <a:pt x="2540" y="770862"/>
                    <a:pt x="2540" y="812326"/>
                  </a:cubicBezTo>
                  <a:cubicBezTo>
                    <a:pt x="2540" y="853087"/>
                    <a:pt x="1270" y="893848"/>
                    <a:pt x="0" y="934610"/>
                  </a:cubicBezTo>
                  <a:cubicBezTo>
                    <a:pt x="0" y="947629"/>
                    <a:pt x="3810" y="957789"/>
                    <a:pt x="15240" y="962869"/>
                  </a:cubicBezTo>
                  <a:cubicBezTo>
                    <a:pt x="22860" y="966679"/>
                    <a:pt x="31750" y="969219"/>
                    <a:pt x="40640" y="970489"/>
                  </a:cubicBezTo>
                  <a:cubicBezTo>
                    <a:pt x="184625" y="975569"/>
                    <a:pt x="384294" y="979379"/>
                    <a:pt x="583962" y="984459"/>
                  </a:cubicBezTo>
                  <a:cubicBezTo>
                    <a:pt x="694305" y="986999"/>
                    <a:pt x="804648" y="992079"/>
                    <a:pt x="914991" y="993349"/>
                  </a:cubicBezTo>
                  <a:cubicBezTo>
                    <a:pt x="1098896" y="995889"/>
                    <a:pt x="3148123" y="997159"/>
                    <a:pt x="3332028" y="998429"/>
                  </a:cubicBezTo>
                  <a:cubicBezTo>
                    <a:pt x="3358300" y="998429"/>
                    <a:pt x="3384572" y="998429"/>
                    <a:pt x="3410845" y="998429"/>
                  </a:cubicBezTo>
                  <a:cubicBezTo>
                    <a:pt x="3536951" y="998429"/>
                    <a:pt x="3668311" y="997159"/>
                    <a:pt x="3794418" y="997159"/>
                  </a:cubicBezTo>
                  <a:cubicBezTo>
                    <a:pt x="3941542" y="997159"/>
                    <a:pt x="4083411" y="998429"/>
                    <a:pt x="4230535" y="998429"/>
                  </a:cubicBezTo>
                  <a:cubicBezTo>
                    <a:pt x="4445967" y="998429"/>
                    <a:pt x="4666653" y="998429"/>
                    <a:pt x="4882085" y="998429"/>
                  </a:cubicBezTo>
                  <a:cubicBezTo>
                    <a:pt x="5081753" y="998429"/>
                    <a:pt x="5281421" y="999699"/>
                    <a:pt x="5481089" y="1000969"/>
                  </a:cubicBezTo>
                  <a:cubicBezTo>
                    <a:pt x="5570415" y="1000969"/>
                    <a:pt x="5664994" y="1002239"/>
                    <a:pt x="5754319" y="1002239"/>
                  </a:cubicBezTo>
                  <a:cubicBezTo>
                    <a:pt x="6043313" y="1000969"/>
                    <a:pt x="6327052" y="994619"/>
                    <a:pt x="6597089" y="994619"/>
                  </a:cubicBezTo>
                  <a:cubicBezTo>
                    <a:pt x="6600899" y="994619"/>
                    <a:pt x="6605979" y="992079"/>
                    <a:pt x="6609789" y="989539"/>
                  </a:cubicBezTo>
                  <a:cubicBezTo>
                    <a:pt x="6614869" y="985729"/>
                    <a:pt x="6617408" y="979379"/>
                    <a:pt x="6619949" y="976839"/>
                  </a:cubicBezTo>
                  <a:cubicBezTo>
                    <a:pt x="6621219" y="929690"/>
                    <a:pt x="6622489" y="900173"/>
                    <a:pt x="6623758" y="870656"/>
                  </a:cubicBezTo>
                  <a:cubicBezTo>
                    <a:pt x="6625029" y="824976"/>
                    <a:pt x="6635189" y="386441"/>
                    <a:pt x="6636458" y="340760"/>
                  </a:cubicBezTo>
                  <a:cubicBezTo>
                    <a:pt x="6636458" y="313351"/>
                    <a:pt x="6637729" y="285943"/>
                    <a:pt x="6638999" y="258535"/>
                  </a:cubicBezTo>
                  <a:cubicBezTo>
                    <a:pt x="6640269" y="229018"/>
                    <a:pt x="6641539" y="199501"/>
                    <a:pt x="6644079" y="169984"/>
                  </a:cubicBezTo>
                  <a:cubicBezTo>
                    <a:pt x="6645349" y="152415"/>
                    <a:pt x="6645349" y="134142"/>
                    <a:pt x="6650429" y="116573"/>
                  </a:cubicBezTo>
                  <a:cubicBezTo>
                    <a:pt x="6655508" y="95490"/>
                    <a:pt x="6658049" y="75109"/>
                    <a:pt x="6656779" y="43744"/>
                  </a:cubicBezTo>
                  <a:cubicBezTo>
                    <a:pt x="6656779" y="37394"/>
                    <a:pt x="6652969" y="29774"/>
                    <a:pt x="6646619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02506" y="2175878"/>
            <a:ext cx="1035424" cy="1050707"/>
            <a:chOff x="0" y="0"/>
            <a:chExt cx="1380566" cy="1400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0566" cy="1400943"/>
            </a:xfrm>
            <a:custGeom>
              <a:avLst/>
              <a:gdLst/>
              <a:ahLst/>
              <a:cxnLst/>
              <a:rect r="r" b="b" t="t" l="l"/>
              <a:pathLst>
                <a:path h="1400943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43"/>
                  </a:lnTo>
                  <a:lnTo>
                    <a:pt x="0" y="140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693" y="318926"/>
              <a:ext cx="894043" cy="918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02506" y="4467746"/>
            <a:ext cx="1035424" cy="1050707"/>
            <a:chOff x="0" y="0"/>
            <a:chExt cx="1380566" cy="1400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0566" cy="1400943"/>
            </a:xfrm>
            <a:custGeom>
              <a:avLst/>
              <a:gdLst/>
              <a:ahLst/>
              <a:cxnLst/>
              <a:rect r="r" b="b" t="t" l="l"/>
              <a:pathLst>
                <a:path h="1400943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43"/>
                  </a:lnTo>
                  <a:lnTo>
                    <a:pt x="0" y="140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28693" y="318926"/>
              <a:ext cx="894043" cy="918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021538" y="829677"/>
            <a:ext cx="879891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</a:pPr>
            <a:r>
              <a:rPr lang="en-US" b="true" sz="5000" spc="-50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METODE PEMODELAN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11345" y="2588410"/>
            <a:ext cx="9224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</a:t>
            </a: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enggunakan: Linear Congruential Generator (LCG) manual.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Output: Vektor bilangan acak U ~ U(0,1) sebanyak N=5.000.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98654" y="4913571"/>
            <a:ext cx="112351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Teknik: Inverse T</a:t>
            </a: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ransform Empiris.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Prinsip: Memetakan nilai U ke kuantil (CDF invers) dari distribusi umur asli. Metode ini penting untuk mereplikasi bentuk distribusi, bukan hanya rentang.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9026" y="1949500"/>
            <a:ext cx="5666721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b="true" sz="2599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Pemb</a:t>
            </a:r>
            <a:r>
              <a:rPr lang="en-US" b="true" sz="2599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angkit Bilangan Acak Dasar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77279" y="4205855"/>
            <a:ext cx="5112856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b="true" sz="2599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</a:t>
            </a:r>
            <a:r>
              <a:rPr lang="en-US" b="true" sz="2599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ansformasi Umur (Kontinu)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275553" y="7058610"/>
            <a:ext cx="12602798" cy="1832435"/>
            <a:chOff x="0" y="0"/>
            <a:chExt cx="6656779" cy="9678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-564"/>
              <a:ext cx="6657102" cy="965914"/>
            </a:xfrm>
            <a:custGeom>
              <a:avLst/>
              <a:gdLst/>
              <a:ahLst/>
              <a:cxnLst/>
              <a:rect r="r" b="b" t="t" l="l"/>
              <a:pathLst>
                <a:path h="965914" w="6657102">
                  <a:moveTo>
                    <a:pt x="6646619" y="27234"/>
                  </a:moveTo>
                  <a:cubicBezTo>
                    <a:pt x="6637729" y="23424"/>
                    <a:pt x="6628839" y="20884"/>
                    <a:pt x="6619949" y="20884"/>
                  </a:cubicBezTo>
                  <a:cubicBezTo>
                    <a:pt x="6593279" y="19614"/>
                    <a:pt x="6495194" y="19614"/>
                    <a:pt x="6384851" y="17074"/>
                  </a:cubicBezTo>
                  <a:cubicBezTo>
                    <a:pt x="6132638" y="11994"/>
                    <a:pt x="5885681" y="5644"/>
                    <a:pt x="5633468" y="3104"/>
                  </a:cubicBezTo>
                  <a:cubicBezTo>
                    <a:pt x="5428545" y="564"/>
                    <a:pt x="5228877" y="3104"/>
                    <a:pt x="5023954" y="1834"/>
                  </a:cubicBezTo>
                  <a:cubicBezTo>
                    <a:pt x="4934629" y="1834"/>
                    <a:pt x="4845303" y="-706"/>
                    <a:pt x="4755978" y="1834"/>
                  </a:cubicBezTo>
                  <a:cubicBezTo>
                    <a:pt x="4540546" y="9454"/>
                    <a:pt x="4325115" y="10724"/>
                    <a:pt x="4104429" y="8184"/>
                  </a:cubicBezTo>
                  <a:cubicBezTo>
                    <a:pt x="3994086" y="6914"/>
                    <a:pt x="3883743" y="6914"/>
                    <a:pt x="3773400" y="6914"/>
                  </a:cubicBezTo>
                  <a:cubicBezTo>
                    <a:pt x="3573732" y="6914"/>
                    <a:pt x="3374064" y="6914"/>
                    <a:pt x="3174395" y="5644"/>
                  </a:cubicBezTo>
                  <a:cubicBezTo>
                    <a:pt x="2964218" y="4374"/>
                    <a:pt x="893973" y="1834"/>
                    <a:pt x="689051" y="564"/>
                  </a:cubicBezTo>
                  <a:cubicBezTo>
                    <a:pt x="520909" y="-706"/>
                    <a:pt x="358022" y="564"/>
                    <a:pt x="189880" y="564"/>
                  </a:cubicBezTo>
                  <a:cubicBezTo>
                    <a:pt x="74282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92883"/>
                    <a:pt x="16510" y="131276"/>
                    <a:pt x="17780" y="168995"/>
                  </a:cubicBezTo>
                  <a:cubicBezTo>
                    <a:pt x="19050" y="207389"/>
                    <a:pt x="17780" y="245782"/>
                    <a:pt x="16510" y="284848"/>
                  </a:cubicBezTo>
                  <a:cubicBezTo>
                    <a:pt x="15240" y="324588"/>
                    <a:pt x="2540" y="741524"/>
                    <a:pt x="2540" y="781264"/>
                  </a:cubicBezTo>
                  <a:cubicBezTo>
                    <a:pt x="2540" y="820331"/>
                    <a:pt x="1270" y="859397"/>
                    <a:pt x="0" y="898464"/>
                  </a:cubicBezTo>
                  <a:cubicBezTo>
                    <a:pt x="0" y="911303"/>
                    <a:pt x="3810" y="921463"/>
                    <a:pt x="15240" y="926543"/>
                  </a:cubicBezTo>
                  <a:cubicBezTo>
                    <a:pt x="22860" y="930353"/>
                    <a:pt x="31750" y="932893"/>
                    <a:pt x="40640" y="934163"/>
                  </a:cubicBezTo>
                  <a:cubicBezTo>
                    <a:pt x="184625" y="939243"/>
                    <a:pt x="384294" y="943053"/>
                    <a:pt x="583962" y="948133"/>
                  </a:cubicBezTo>
                  <a:cubicBezTo>
                    <a:pt x="694305" y="950673"/>
                    <a:pt x="804648" y="955753"/>
                    <a:pt x="914991" y="957023"/>
                  </a:cubicBezTo>
                  <a:cubicBezTo>
                    <a:pt x="1098896" y="959563"/>
                    <a:pt x="3148123" y="960833"/>
                    <a:pt x="3332028" y="962103"/>
                  </a:cubicBezTo>
                  <a:cubicBezTo>
                    <a:pt x="3358300" y="962103"/>
                    <a:pt x="3384572" y="962103"/>
                    <a:pt x="3410845" y="962103"/>
                  </a:cubicBezTo>
                  <a:cubicBezTo>
                    <a:pt x="3536951" y="962103"/>
                    <a:pt x="3668311" y="960833"/>
                    <a:pt x="3794418" y="960833"/>
                  </a:cubicBezTo>
                  <a:cubicBezTo>
                    <a:pt x="3941542" y="960833"/>
                    <a:pt x="4083411" y="962103"/>
                    <a:pt x="4230535" y="962103"/>
                  </a:cubicBezTo>
                  <a:cubicBezTo>
                    <a:pt x="4445967" y="962103"/>
                    <a:pt x="4666653" y="962103"/>
                    <a:pt x="4882085" y="962103"/>
                  </a:cubicBezTo>
                  <a:cubicBezTo>
                    <a:pt x="5081753" y="962103"/>
                    <a:pt x="5281421" y="963373"/>
                    <a:pt x="5481089" y="964643"/>
                  </a:cubicBezTo>
                  <a:cubicBezTo>
                    <a:pt x="5570415" y="964643"/>
                    <a:pt x="5664994" y="965913"/>
                    <a:pt x="5754319" y="965913"/>
                  </a:cubicBezTo>
                  <a:cubicBezTo>
                    <a:pt x="6043313" y="964643"/>
                    <a:pt x="6327052" y="958293"/>
                    <a:pt x="6597089" y="958293"/>
                  </a:cubicBezTo>
                  <a:cubicBezTo>
                    <a:pt x="6600899" y="958293"/>
                    <a:pt x="6605979" y="955753"/>
                    <a:pt x="6609789" y="953213"/>
                  </a:cubicBezTo>
                  <a:cubicBezTo>
                    <a:pt x="6614869" y="949403"/>
                    <a:pt x="6617408" y="943053"/>
                    <a:pt x="6619949" y="940513"/>
                  </a:cubicBezTo>
                  <a:cubicBezTo>
                    <a:pt x="6621219" y="893749"/>
                    <a:pt x="6622489" y="865459"/>
                    <a:pt x="6623758" y="837170"/>
                  </a:cubicBezTo>
                  <a:cubicBezTo>
                    <a:pt x="6625029" y="793388"/>
                    <a:pt x="6635189" y="373085"/>
                    <a:pt x="6636458" y="329303"/>
                  </a:cubicBezTo>
                  <a:cubicBezTo>
                    <a:pt x="6636458" y="303034"/>
                    <a:pt x="6637729" y="276765"/>
                    <a:pt x="6638999" y="250496"/>
                  </a:cubicBezTo>
                  <a:cubicBezTo>
                    <a:pt x="6640269" y="222207"/>
                    <a:pt x="6641539" y="193917"/>
                    <a:pt x="6644079" y="165628"/>
                  </a:cubicBezTo>
                  <a:cubicBezTo>
                    <a:pt x="6645349" y="148789"/>
                    <a:pt x="6645349" y="131276"/>
                    <a:pt x="6650429" y="114437"/>
                  </a:cubicBezTo>
                  <a:cubicBezTo>
                    <a:pt x="6655508" y="94230"/>
                    <a:pt x="6658049" y="74697"/>
                    <a:pt x="6656779" y="43744"/>
                  </a:cubicBezTo>
                  <a:cubicBezTo>
                    <a:pt x="6656779" y="37394"/>
                    <a:pt x="6652969" y="29774"/>
                    <a:pt x="6646619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02506" y="7058610"/>
            <a:ext cx="1035424" cy="1050707"/>
            <a:chOff x="0" y="0"/>
            <a:chExt cx="1380566" cy="14009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80566" cy="1400943"/>
            </a:xfrm>
            <a:custGeom>
              <a:avLst/>
              <a:gdLst/>
              <a:ahLst/>
              <a:cxnLst/>
              <a:rect r="r" b="b" t="t" l="l"/>
              <a:pathLst>
                <a:path h="1400943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43"/>
                  </a:lnTo>
                  <a:lnTo>
                    <a:pt x="0" y="140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28693" y="318926"/>
              <a:ext cx="894043" cy="918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711345" y="7559942"/>
            <a:ext cx="11460749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</a:t>
            </a: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eknik: Sampling Invers Diskrit berdasarkan Probabilitas Empiris.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Prinsip: Memetakan U ke kategori wilayah berdasarkan interval probabilitas kumulatif tiap wilayah.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77279" y="6850012"/>
            <a:ext cx="4846454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b="true" sz="2599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Tr</a:t>
            </a:r>
            <a:r>
              <a:rPr lang="en-US" b="true" sz="2599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ansformasi Asal (Diskrit)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6" y="182672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3472009"/>
            </a:xfrm>
            <a:custGeom>
              <a:avLst/>
              <a:gdLst/>
              <a:ahLst/>
              <a:cxnLst/>
              <a:rect r="r" b="b" t="t" l="l"/>
              <a:pathLst>
                <a:path h="3472009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5755"/>
                    <a:pt x="16510" y="329045"/>
                    <a:pt x="17780" y="479646"/>
                  </a:cubicBezTo>
                  <a:cubicBezTo>
                    <a:pt x="19050" y="632936"/>
                    <a:pt x="17780" y="786225"/>
                    <a:pt x="16510" y="942205"/>
                  </a:cubicBezTo>
                  <a:cubicBezTo>
                    <a:pt x="15240" y="1100873"/>
                    <a:pt x="2540" y="2765548"/>
                    <a:pt x="2540" y="2924216"/>
                  </a:cubicBezTo>
                  <a:cubicBezTo>
                    <a:pt x="2540" y="3080195"/>
                    <a:pt x="1270" y="3236174"/>
                    <a:pt x="0" y="3392153"/>
                  </a:cubicBezTo>
                  <a:cubicBezTo>
                    <a:pt x="0" y="3417398"/>
                    <a:pt x="3810" y="3427558"/>
                    <a:pt x="15240" y="3432638"/>
                  </a:cubicBezTo>
                  <a:cubicBezTo>
                    <a:pt x="22860" y="3436448"/>
                    <a:pt x="31750" y="3438988"/>
                    <a:pt x="40640" y="3440258"/>
                  </a:cubicBezTo>
                  <a:cubicBezTo>
                    <a:pt x="188388" y="3445338"/>
                    <a:pt x="394007" y="3449148"/>
                    <a:pt x="599625" y="3454228"/>
                  </a:cubicBezTo>
                  <a:cubicBezTo>
                    <a:pt x="713257" y="3456768"/>
                    <a:pt x="826888" y="3461848"/>
                    <a:pt x="940520" y="3463118"/>
                  </a:cubicBezTo>
                  <a:cubicBezTo>
                    <a:pt x="1129906" y="3465658"/>
                    <a:pt x="3240205" y="3466928"/>
                    <a:pt x="3429591" y="3468198"/>
                  </a:cubicBezTo>
                  <a:cubicBezTo>
                    <a:pt x="3456646" y="3468198"/>
                    <a:pt x="3483701" y="3468198"/>
                    <a:pt x="3510756" y="3468198"/>
                  </a:cubicBezTo>
                  <a:cubicBezTo>
                    <a:pt x="3640621" y="3468198"/>
                    <a:pt x="3775897" y="3466928"/>
                    <a:pt x="3905761" y="3466928"/>
                  </a:cubicBezTo>
                  <a:cubicBezTo>
                    <a:pt x="4057270" y="3466928"/>
                    <a:pt x="4203367" y="3468198"/>
                    <a:pt x="4354876" y="3468198"/>
                  </a:cubicBezTo>
                  <a:cubicBezTo>
                    <a:pt x="4576728" y="3468198"/>
                    <a:pt x="4803991" y="3468198"/>
                    <a:pt x="5025843" y="3468198"/>
                  </a:cubicBezTo>
                  <a:cubicBezTo>
                    <a:pt x="5231462" y="3468198"/>
                    <a:pt x="5437081" y="3469468"/>
                    <a:pt x="5642700" y="3470738"/>
                  </a:cubicBezTo>
                  <a:cubicBezTo>
                    <a:pt x="5734687" y="3470738"/>
                    <a:pt x="5832086" y="3472008"/>
                    <a:pt x="5924073" y="3472008"/>
                  </a:cubicBezTo>
                  <a:cubicBezTo>
                    <a:pt x="6221680" y="3470738"/>
                    <a:pt x="6513874" y="3464388"/>
                    <a:pt x="6791779" y="3464388"/>
                  </a:cubicBezTo>
                  <a:cubicBezTo>
                    <a:pt x="6795589" y="3464388"/>
                    <a:pt x="6800669" y="3461848"/>
                    <a:pt x="6804479" y="3459308"/>
                  </a:cubicBezTo>
                  <a:cubicBezTo>
                    <a:pt x="6809559" y="3455498"/>
                    <a:pt x="6812099" y="3449148"/>
                    <a:pt x="6814639" y="3446608"/>
                  </a:cubicBezTo>
                  <a:cubicBezTo>
                    <a:pt x="6815909" y="3373328"/>
                    <a:pt x="6817179" y="3260378"/>
                    <a:pt x="6818449" y="3147427"/>
                  </a:cubicBezTo>
                  <a:cubicBezTo>
                    <a:pt x="6819719" y="2972623"/>
                    <a:pt x="6829879" y="1294502"/>
                    <a:pt x="6831149" y="1119698"/>
                  </a:cubicBezTo>
                  <a:cubicBezTo>
                    <a:pt x="6831149" y="1014815"/>
                    <a:pt x="6832419" y="909933"/>
                    <a:pt x="6833689" y="805050"/>
                  </a:cubicBezTo>
                  <a:cubicBezTo>
                    <a:pt x="6834959" y="692100"/>
                    <a:pt x="6836229" y="579150"/>
                    <a:pt x="6838769" y="466199"/>
                  </a:cubicBezTo>
                  <a:cubicBezTo>
                    <a:pt x="6840039" y="398967"/>
                    <a:pt x="6840039" y="329045"/>
                    <a:pt x="6845119" y="261813"/>
                  </a:cubicBezTo>
                  <a:cubicBezTo>
                    <a:pt x="6850199" y="181134"/>
                    <a:pt x="6852739" y="10314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68025" y="3903940"/>
            <a:ext cx="6266967" cy="1268135"/>
            <a:chOff x="0" y="0"/>
            <a:chExt cx="3310202" cy="6698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564"/>
              <a:ext cx="3310526" cy="667851"/>
            </a:xfrm>
            <a:custGeom>
              <a:avLst/>
              <a:gdLst/>
              <a:ahLst/>
              <a:cxnLst/>
              <a:rect r="r" b="b" t="t" l="l"/>
              <a:pathLst>
                <a:path h="667851" w="3310526">
                  <a:moveTo>
                    <a:pt x="3300042" y="27234"/>
                  </a:moveTo>
                  <a:cubicBezTo>
                    <a:pt x="3291153" y="23424"/>
                    <a:pt x="3282262" y="20884"/>
                    <a:pt x="3273372" y="20884"/>
                  </a:cubicBezTo>
                  <a:cubicBezTo>
                    <a:pt x="3246703" y="19614"/>
                    <a:pt x="3197721" y="19614"/>
                    <a:pt x="3143905" y="17074"/>
                  </a:cubicBezTo>
                  <a:cubicBezTo>
                    <a:pt x="3020897" y="11994"/>
                    <a:pt x="2900452" y="5644"/>
                    <a:pt x="2777444" y="3104"/>
                  </a:cubicBezTo>
                  <a:cubicBezTo>
                    <a:pt x="2677500" y="564"/>
                    <a:pt x="2580118" y="3104"/>
                    <a:pt x="2480174" y="1834"/>
                  </a:cubicBezTo>
                  <a:cubicBezTo>
                    <a:pt x="2436609" y="1834"/>
                    <a:pt x="2393043" y="-706"/>
                    <a:pt x="2349478" y="1834"/>
                  </a:cubicBezTo>
                  <a:cubicBezTo>
                    <a:pt x="2244409" y="9454"/>
                    <a:pt x="2139339" y="10724"/>
                    <a:pt x="2031707" y="8184"/>
                  </a:cubicBezTo>
                  <a:cubicBezTo>
                    <a:pt x="1977891" y="6914"/>
                    <a:pt x="1924075" y="6914"/>
                    <a:pt x="1870259" y="6914"/>
                  </a:cubicBezTo>
                  <a:cubicBezTo>
                    <a:pt x="1772877" y="6914"/>
                    <a:pt x="1675496" y="6914"/>
                    <a:pt x="1578115" y="5644"/>
                  </a:cubicBezTo>
                  <a:cubicBezTo>
                    <a:pt x="1475608" y="4374"/>
                    <a:pt x="465917" y="1834"/>
                    <a:pt x="365973" y="564"/>
                  </a:cubicBezTo>
                  <a:cubicBezTo>
                    <a:pt x="283967" y="-706"/>
                    <a:pt x="204524" y="564"/>
                    <a:pt x="122519" y="564"/>
                  </a:cubicBezTo>
                  <a:cubicBezTo>
                    <a:pt x="66140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83026"/>
                    <a:pt x="16510" y="107754"/>
                    <a:pt x="17780" y="132048"/>
                  </a:cubicBezTo>
                  <a:cubicBezTo>
                    <a:pt x="19050" y="156776"/>
                    <a:pt x="17780" y="181504"/>
                    <a:pt x="16510" y="206666"/>
                  </a:cubicBezTo>
                  <a:cubicBezTo>
                    <a:pt x="15240" y="232261"/>
                    <a:pt x="2540" y="500797"/>
                    <a:pt x="2540" y="526392"/>
                  </a:cubicBezTo>
                  <a:cubicBezTo>
                    <a:pt x="2540" y="551554"/>
                    <a:pt x="1270" y="576715"/>
                    <a:pt x="0" y="601877"/>
                  </a:cubicBezTo>
                  <a:cubicBezTo>
                    <a:pt x="0" y="613241"/>
                    <a:pt x="3810" y="623401"/>
                    <a:pt x="15240" y="628481"/>
                  </a:cubicBezTo>
                  <a:cubicBezTo>
                    <a:pt x="22860" y="632291"/>
                    <a:pt x="31750" y="634831"/>
                    <a:pt x="40640" y="636101"/>
                  </a:cubicBezTo>
                  <a:cubicBezTo>
                    <a:pt x="119956" y="641181"/>
                    <a:pt x="217338" y="644991"/>
                    <a:pt x="314719" y="650071"/>
                  </a:cubicBezTo>
                  <a:cubicBezTo>
                    <a:pt x="368535" y="652611"/>
                    <a:pt x="422351" y="657691"/>
                    <a:pt x="476167" y="658961"/>
                  </a:cubicBezTo>
                  <a:cubicBezTo>
                    <a:pt x="565861" y="661501"/>
                    <a:pt x="1565301" y="662771"/>
                    <a:pt x="1654995" y="664041"/>
                  </a:cubicBezTo>
                  <a:cubicBezTo>
                    <a:pt x="1667808" y="664041"/>
                    <a:pt x="1680621" y="664041"/>
                    <a:pt x="1693435" y="664041"/>
                  </a:cubicBezTo>
                  <a:cubicBezTo>
                    <a:pt x="1754939" y="664041"/>
                    <a:pt x="1819006" y="662771"/>
                    <a:pt x="1880509" y="662771"/>
                  </a:cubicBezTo>
                  <a:cubicBezTo>
                    <a:pt x="1952264" y="662771"/>
                    <a:pt x="2021456" y="664041"/>
                    <a:pt x="2093211" y="664041"/>
                  </a:cubicBezTo>
                  <a:cubicBezTo>
                    <a:pt x="2198281" y="664041"/>
                    <a:pt x="2305913" y="664041"/>
                    <a:pt x="2410982" y="664041"/>
                  </a:cubicBezTo>
                  <a:cubicBezTo>
                    <a:pt x="2508363" y="664041"/>
                    <a:pt x="2605745" y="665311"/>
                    <a:pt x="2703126" y="666581"/>
                  </a:cubicBezTo>
                  <a:cubicBezTo>
                    <a:pt x="2746692" y="666581"/>
                    <a:pt x="2792820" y="667851"/>
                    <a:pt x="2836385" y="667851"/>
                  </a:cubicBezTo>
                  <a:cubicBezTo>
                    <a:pt x="2977332" y="666581"/>
                    <a:pt x="3115716" y="660231"/>
                    <a:pt x="3250512" y="660231"/>
                  </a:cubicBezTo>
                  <a:cubicBezTo>
                    <a:pt x="3254322" y="660231"/>
                    <a:pt x="3259403" y="657691"/>
                    <a:pt x="3263212" y="655151"/>
                  </a:cubicBezTo>
                  <a:cubicBezTo>
                    <a:pt x="3268292" y="651341"/>
                    <a:pt x="3270833" y="644991"/>
                    <a:pt x="3273372" y="642451"/>
                  </a:cubicBezTo>
                  <a:cubicBezTo>
                    <a:pt x="3274642" y="598840"/>
                    <a:pt x="3275912" y="580620"/>
                    <a:pt x="3277183" y="562399"/>
                  </a:cubicBezTo>
                  <a:cubicBezTo>
                    <a:pt x="3278453" y="534201"/>
                    <a:pt x="3288612" y="263496"/>
                    <a:pt x="3289883" y="235298"/>
                  </a:cubicBezTo>
                  <a:cubicBezTo>
                    <a:pt x="3289883" y="218379"/>
                    <a:pt x="3291153" y="201460"/>
                    <a:pt x="3292422" y="184541"/>
                  </a:cubicBezTo>
                  <a:cubicBezTo>
                    <a:pt x="3293692" y="166320"/>
                    <a:pt x="3294962" y="148100"/>
                    <a:pt x="3297503" y="129879"/>
                  </a:cubicBezTo>
                  <a:cubicBezTo>
                    <a:pt x="3298772" y="119034"/>
                    <a:pt x="3298772" y="107754"/>
                    <a:pt x="3303853" y="96909"/>
                  </a:cubicBezTo>
                  <a:cubicBezTo>
                    <a:pt x="3308933" y="83894"/>
                    <a:pt x="3311472" y="71313"/>
                    <a:pt x="3310203" y="43744"/>
                  </a:cubicBezTo>
                  <a:cubicBezTo>
                    <a:pt x="3310203" y="37394"/>
                    <a:pt x="3306392" y="29774"/>
                    <a:pt x="3300042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158500" y="5560349"/>
            <a:ext cx="6276492" cy="2149783"/>
            <a:chOff x="0" y="0"/>
            <a:chExt cx="3315234" cy="11355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564"/>
              <a:ext cx="3315557" cy="1133536"/>
            </a:xfrm>
            <a:custGeom>
              <a:avLst/>
              <a:gdLst/>
              <a:ahLst/>
              <a:cxnLst/>
              <a:rect r="r" b="b" t="t" l="l"/>
              <a:pathLst>
                <a:path h="1133536" w="3315557">
                  <a:moveTo>
                    <a:pt x="3305073" y="27234"/>
                  </a:moveTo>
                  <a:cubicBezTo>
                    <a:pt x="3296184" y="23424"/>
                    <a:pt x="3287294" y="20884"/>
                    <a:pt x="3278403" y="20884"/>
                  </a:cubicBezTo>
                  <a:cubicBezTo>
                    <a:pt x="3251734" y="19614"/>
                    <a:pt x="3202679" y="19614"/>
                    <a:pt x="3148778" y="17074"/>
                  </a:cubicBezTo>
                  <a:cubicBezTo>
                    <a:pt x="3025575" y="11994"/>
                    <a:pt x="2904940" y="5644"/>
                    <a:pt x="2781737" y="3104"/>
                  </a:cubicBezTo>
                  <a:cubicBezTo>
                    <a:pt x="2681635" y="564"/>
                    <a:pt x="2584100" y="3104"/>
                    <a:pt x="2483998" y="1834"/>
                  </a:cubicBezTo>
                  <a:cubicBezTo>
                    <a:pt x="2440364" y="1834"/>
                    <a:pt x="2396730" y="-706"/>
                    <a:pt x="2353096" y="1834"/>
                  </a:cubicBezTo>
                  <a:cubicBezTo>
                    <a:pt x="2247860" y="9454"/>
                    <a:pt x="2142625" y="10724"/>
                    <a:pt x="2034823" y="8184"/>
                  </a:cubicBezTo>
                  <a:cubicBezTo>
                    <a:pt x="1980922" y="6914"/>
                    <a:pt x="1927021" y="6914"/>
                    <a:pt x="1873120" y="6914"/>
                  </a:cubicBezTo>
                  <a:cubicBezTo>
                    <a:pt x="1775585" y="6914"/>
                    <a:pt x="1678050" y="6914"/>
                    <a:pt x="1580515" y="5644"/>
                  </a:cubicBezTo>
                  <a:cubicBezTo>
                    <a:pt x="1477846" y="4374"/>
                    <a:pt x="466560" y="1834"/>
                    <a:pt x="366458" y="564"/>
                  </a:cubicBezTo>
                  <a:cubicBezTo>
                    <a:pt x="284323" y="-706"/>
                    <a:pt x="204755" y="564"/>
                    <a:pt x="122620" y="564"/>
                  </a:cubicBezTo>
                  <a:cubicBezTo>
                    <a:pt x="66152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98426"/>
                    <a:pt x="16510" y="144504"/>
                    <a:pt x="17780" y="189774"/>
                  </a:cubicBezTo>
                  <a:cubicBezTo>
                    <a:pt x="19050" y="235852"/>
                    <a:pt x="17780" y="281930"/>
                    <a:pt x="16510" y="328816"/>
                  </a:cubicBezTo>
                  <a:cubicBezTo>
                    <a:pt x="15240" y="376511"/>
                    <a:pt x="2540" y="876903"/>
                    <a:pt x="2540" y="924598"/>
                  </a:cubicBezTo>
                  <a:cubicBezTo>
                    <a:pt x="2540" y="971484"/>
                    <a:pt x="1270" y="1018370"/>
                    <a:pt x="0" y="1065257"/>
                  </a:cubicBezTo>
                  <a:cubicBezTo>
                    <a:pt x="0" y="1078926"/>
                    <a:pt x="3810" y="1089086"/>
                    <a:pt x="15240" y="1094166"/>
                  </a:cubicBezTo>
                  <a:cubicBezTo>
                    <a:pt x="22860" y="1097976"/>
                    <a:pt x="31750" y="1100516"/>
                    <a:pt x="40640" y="1101786"/>
                  </a:cubicBezTo>
                  <a:cubicBezTo>
                    <a:pt x="120053" y="1106866"/>
                    <a:pt x="217589" y="1110676"/>
                    <a:pt x="315124" y="1115756"/>
                  </a:cubicBezTo>
                  <a:cubicBezTo>
                    <a:pt x="369025" y="1118296"/>
                    <a:pt x="422926" y="1123376"/>
                    <a:pt x="476827" y="1124646"/>
                  </a:cubicBezTo>
                  <a:cubicBezTo>
                    <a:pt x="566662" y="1127186"/>
                    <a:pt x="1567681" y="1128456"/>
                    <a:pt x="1657516" y="1129726"/>
                  </a:cubicBezTo>
                  <a:cubicBezTo>
                    <a:pt x="1670350" y="1129726"/>
                    <a:pt x="1683183" y="1129726"/>
                    <a:pt x="1696017" y="1129726"/>
                  </a:cubicBezTo>
                  <a:cubicBezTo>
                    <a:pt x="1757618" y="1129726"/>
                    <a:pt x="1821786" y="1128456"/>
                    <a:pt x="1883387" y="1128456"/>
                  </a:cubicBezTo>
                  <a:cubicBezTo>
                    <a:pt x="1955255" y="1128456"/>
                    <a:pt x="2024556" y="1129726"/>
                    <a:pt x="2096424" y="1129726"/>
                  </a:cubicBezTo>
                  <a:cubicBezTo>
                    <a:pt x="2201660" y="1129726"/>
                    <a:pt x="2309462" y="1129726"/>
                    <a:pt x="2414697" y="1129726"/>
                  </a:cubicBezTo>
                  <a:cubicBezTo>
                    <a:pt x="2512232" y="1129726"/>
                    <a:pt x="2609767" y="1130996"/>
                    <a:pt x="2707303" y="1132266"/>
                  </a:cubicBezTo>
                  <a:cubicBezTo>
                    <a:pt x="2750937" y="1132266"/>
                    <a:pt x="2797138" y="1133536"/>
                    <a:pt x="2840772" y="1133536"/>
                  </a:cubicBezTo>
                  <a:cubicBezTo>
                    <a:pt x="2981941" y="1132266"/>
                    <a:pt x="3120544" y="1125916"/>
                    <a:pt x="3255544" y="1125916"/>
                  </a:cubicBezTo>
                  <a:cubicBezTo>
                    <a:pt x="3259353" y="1125916"/>
                    <a:pt x="3264434" y="1123376"/>
                    <a:pt x="3268244" y="1120836"/>
                  </a:cubicBezTo>
                  <a:cubicBezTo>
                    <a:pt x="3273323" y="1117026"/>
                    <a:pt x="3275864" y="1110676"/>
                    <a:pt x="3278403" y="1108136"/>
                  </a:cubicBezTo>
                  <a:cubicBezTo>
                    <a:pt x="3279673" y="1059598"/>
                    <a:pt x="3280944" y="1025646"/>
                    <a:pt x="3282214" y="991694"/>
                  </a:cubicBezTo>
                  <a:cubicBezTo>
                    <a:pt x="3283484" y="939148"/>
                    <a:pt x="3293644" y="434715"/>
                    <a:pt x="3294914" y="382170"/>
                  </a:cubicBezTo>
                  <a:cubicBezTo>
                    <a:pt x="3294914" y="350643"/>
                    <a:pt x="3296184" y="319115"/>
                    <a:pt x="3297453" y="287588"/>
                  </a:cubicBezTo>
                  <a:cubicBezTo>
                    <a:pt x="3298723" y="253636"/>
                    <a:pt x="3299994" y="219684"/>
                    <a:pt x="3302534" y="185732"/>
                  </a:cubicBezTo>
                  <a:cubicBezTo>
                    <a:pt x="3303803" y="165522"/>
                    <a:pt x="3303803" y="144504"/>
                    <a:pt x="3308884" y="124294"/>
                  </a:cubicBezTo>
                  <a:cubicBezTo>
                    <a:pt x="3313964" y="100043"/>
                    <a:pt x="3316503" y="76599"/>
                    <a:pt x="3315234" y="43744"/>
                  </a:cubicBezTo>
                  <a:cubicBezTo>
                    <a:pt x="3315234" y="37394"/>
                    <a:pt x="3311423" y="29774"/>
                    <a:pt x="3305073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326539" y="3892475"/>
          <a:ext cx="8174736" cy="4694996"/>
        </p:xfrm>
        <a:graphic>
          <a:graphicData uri="http://schemas.openxmlformats.org/drawingml/2006/table">
            <a:tbl>
              <a:tblPr/>
              <a:tblGrid>
                <a:gridCol w="2264835"/>
                <a:gridCol w="2496762"/>
                <a:gridCol w="3413139"/>
              </a:tblGrid>
              <a:tr h="1027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7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0603816" y="4172825"/>
            <a:ext cx="5614401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Dominasi: Bandar Lampung (46%) menjadi wilayah dengan frekuensi tertinggi.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50931" y="5915322"/>
            <a:ext cx="5432767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2099" b="true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Sebaran: Beberapa wilayah menengah (Lampung Selatan, Pesawaran), dan banyak wilayah berfrekuensi sangat rendah (hanya 1 kasus).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556070" y="2994432"/>
            <a:ext cx="5715673" cy="45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b="true" sz="2875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Umur Saat Terdeteksi (Tahun)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61293" y="1622964"/>
            <a:ext cx="1179072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99"/>
              </a:lnSpc>
            </a:pPr>
            <a:r>
              <a:rPr lang="en-US" b="true" sz="5499" spc="-54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HASIL DESKRIPTIF DATA ASLI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4612" y="4167842"/>
            <a:ext cx="1413298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Statistik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86816" y="4167842"/>
            <a:ext cx="748453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Nilai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48438" y="4126764"/>
            <a:ext cx="1508231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Implikasi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9570" y="5100609"/>
            <a:ext cx="1243383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Median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0995" y="6268548"/>
            <a:ext cx="1720532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Rata-rata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66796" y="5157567"/>
            <a:ext cx="1329796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 Tahun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27435" y="7519432"/>
            <a:ext cx="687652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30212" y="6259023"/>
            <a:ext cx="1861661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5,09 Tahun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57470" y="7519432"/>
            <a:ext cx="1548447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55 Tahun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08375" y="6177743"/>
            <a:ext cx="3402425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000" b="tru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Distribusi miring ke kanan 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(positively skewed)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93100" y="5114925"/>
            <a:ext cx="2963557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Mayoritas kasus terdeteksi sangat dini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43288" y="7266702"/>
            <a:ext cx="3101281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Ada kasus terdeteksi dewasa, namun frekuensi sangat kecil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5340" y="2985700"/>
            <a:ext cx="5715673" cy="92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875" b="true">
                <a:solidFill>
                  <a:srgbClr val="3D3D3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Asal Kabupaten/Kota</a:t>
            </a:r>
          </a:p>
          <a:p>
            <a:pPr algn="ctr">
              <a:lnSpc>
                <a:spcPts val="373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3472009"/>
            </a:xfrm>
            <a:custGeom>
              <a:avLst/>
              <a:gdLst/>
              <a:ahLst/>
              <a:cxnLst/>
              <a:rect r="r" b="b" t="t" l="l"/>
              <a:pathLst>
                <a:path h="3472009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5755"/>
                    <a:pt x="16510" y="329045"/>
                    <a:pt x="17780" y="479646"/>
                  </a:cubicBezTo>
                  <a:cubicBezTo>
                    <a:pt x="19050" y="632936"/>
                    <a:pt x="17780" y="786225"/>
                    <a:pt x="16510" y="942205"/>
                  </a:cubicBezTo>
                  <a:cubicBezTo>
                    <a:pt x="15240" y="1100873"/>
                    <a:pt x="2540" y="2765548"/>
                    <a:pt x="2540" y="2924216"/>
                  </a:cubicBezTo>
                  <a:cubicBezTo>
                    <a:pt x="2540" y="3080195"/>
                    <a:pt x="1270" y="3236174"/>
                    <a:pt x="0" y="3392153"/>
                  </a:cubicBezTo>
                  <a:cubicBezTo>
                    <a:pt x="0" y="3417398"/>
                    <a:pt x="3810" y="3427558"/>
                    <a:pt x="15240" y="3432638"/>
                  </a:cubicBezTo>
                  <a:cubicBezTo>
                    <a:pt x="22860" y="3436448"/>
                    <a:pt x="31750" y="3438988"/>
                    <a:pt x="40640" y="3440258"/>
                  </a:cubicBezTo>
                  <a:cubicBezTo>
                    <a:pt x="188388" y="3445338"/>
                    <a:pt x="394007" y="3449148"/>
                    <a:pt x="599625" y="3454228"/>
                  </a:cubicBezTo>
                  <a:cubicBezTo>
                    <a:pt x="713257" y="3456768"/>
                    <a:pt x="826888" y="3461848"/>
                    <a:pt x="940520" y="3463118"/>
                  </a:cubicBezTo>
                  <a:cubicBezTo>
                    <a:pt x="1129906" y="3465658"/>
                    <a:pt x="3240205" y="3466928"/>
                    <a:pt x="3429591" y="3468198"/>
                  </a:cubicBezTo>
                  <a:cubicBezTo>
                    <a:pt x="3456646" y="3468198"/>
                    <a:pt x="3483701" y="3468198"/>
                    <a:pt x="3510756" y="3468198"/>
                  </a:cubicBezTo>
                  <a:cubicBezTo>
                    <a:pt x="3640621" y="3468198"/>
                    <a:pt x="3775897" y="3466928"/>
                    <a:pt x="3905761" y="3466928"/>
                  </a:cubicBezTo>
                  <a:cubicBezTo>
                    <a:pt x="4057270" y="3466928"/>
                    <a:pt x="4203367" y="3468198"/>
                    <a:pt x="4354876" y="3468198"/>
                  </a:cubicBezTo>
                  <a:cubicBezTo>
                    <a:pt x="4576728" y="3468198"/>
                    <a:pt x="4803991" y="3468198"/>
                    <a:pt x="5025843" y="3468198"/>
                  </a:cubicBezTo>
                  <a:cubicBezTo>
                    <a:pt x="5231462" y="3468198"/>
                    <a:pt x="5437081" y="3469468"/>
                    <a:pt x="5642700" y="3470738"/>
                  </a:cubicBezTo>
                  <a:cubicBezTo>
                    <a:pt x="5734687" y="3470738"/>
                    <a:pt x="5832086" y="3472008"/>
                    <a:pt x="5924073" y="3472008"/>
                  </a:cubicBezTo>
                  <a:cubicBezTo>
                    <a:pt x="6221680" y="3470738"/>
                    <a:pt x="6513874" y="3464388"/>
                    <a:pt x="6791779" y="3464388"/>
                  </a:cubicBezTo>
                  <a:cubicBezTo>
                    <a:pt x="6795589" y="3464388"/>
                    <a:pt x="6800669" y="3461848"/>
                    <a:pt x="6804479" y="3459308"/>
                  </a:cubicBezTo>
                  <a:cubicBezTo>
                    <a:pt x="6809559" y="3455498"/>
                    <a:pt x="6812099" y="3449148"/>
                    <a:pt x="6814639" y="3446608"/>
                  </a:cubicBezTo>
                  <a:cubicBezTo>
                    <a:pt x="6815909" y="3373328"/>
                    <a:pt x="6817179" y="3260378"/>
                    <a:pt x="6818449" y="3147427"/>
                  </a:cubicBezTo>
                  <a:cubicBezTo>
                    <a:pt x="6819719" y="2972623"/>
                    <a:pt x="6829879" y="1294502"/>
                    <a:pt x="6831149" y="1119698"/>
                  </a:cubicBezTo>
                  <a:cubicBezTo>
                    <a:pt x="6831149" y="1014815"/>
                    <a:pt x="6832419" y="909933"/>
                    <a:pt x="6833689" y="805050"/>
                  </a:cubicBezTo>
                  <a:cubicBezTo>
                    <a:pt x="6834959" y="692100"/>
                    <a:pt x="6836229" y="579150"/>
                    <a:pt x="6838769" y="466199"/>
                  </a:cubicBezTo>
                  <a:cubicBezTo>
                    <a:pt x="6840039" y="398967"/>
                    <a:pt x="6840039" y="329045"/>
                    <a:pt x="6845119" y="261813"/>
                  </a:cubicBezTo>
                  <a:cubicBezTo>
                    <a:pt x="6850199" y="181134"/>
                    <a:pt x="6852739" y="10314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20888" y="1782567"/>
            <a:ext cx="598102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5000" spc="-50" b="true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VALIDASI UMUR</a:t>
            </a:r>
          </a:p>
          <a:p>
            <a:pPr algn="l" marL="0" indent="0" lvl="0">
              <a:lnSpc>
                <a:spcPts val="4550"/>
              </a:lnSpc>
            </a:pPr>
            <a:r>
              <a:rPr lang="en-US" b="true" sz="5000" spc="-50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(KONTINU)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62247" y="3529679"/>
            <a:ext cx="7035641" cy="2355748"/>
            <a:chOff x="0" y="0"/>
            <a:chExt cx="2474175" cy="8284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74175" cy="828429"/>
            </a:xfrm>
            <a:custGeom>
              <a:avLst/>
              <a:gdLst/>
              <a:ahLst/>
              <a:cxnLst/>
              <a:rect r="r" b="b" t="t" l="l"/>
              <a:pathLst>
                <a:path h="828429" w="2474175">
                  <a:moveTo>
                    <a:pt x="16506" y="0"/>
                  </a:moveTo>
                  <a:lnTo>
                    <a:pt x="2457669" y="0"/>
                  </a:lnTo>
                  <a:cubicBezTo>
                    <a:pt x="2462046" y="0"/>
                    <a:pt x="2466245" y="1739"/>
                    <a:pt x="2469340" y="4834"/>
                  </a:cubicBezTo>
                  <a:cubicBezTo>
                    <a:pt x="2472436" y="7930"/>
                    <a:pt x="2474175" y="12128"/>
                    <a:pt x="2474175" y="16506"/>
                  </a:cubicBezTo>
                  <a:lnTo>
                    <a:pt x="2474175" y="811924"/>
                  </a:lnTo>
                  <a:cubicBezTo>
                    <a:pt x="2474175" y="821040"/>
                    <a:pt x="2466785" y="828429"/>
                    <a:pt x="2457669" y="828429"/>
                  </a:cubicBezTo>
                  <a:lnTo>
                    <a:pt x="16506" y="828429"/>
                  </a:lnTo>
                  <a:cubicBezTo>
                    <a:pt x="12128" y="828429"/>
                    <a:pt x="7930" y="826690"/>
                    <a:pt x="4834" y="823595"/>
                  </a:cubicBezTo>
                  <a:cubicBezTo>
                    <a:pt x="1739" y="820500"/>
                    <a:pt x="0" y="816301"/>
                    <a:pt x="0" y="811924"/>
                  </a:cubicBezTo>
                  <a:lnTo>
                    <a:pt x="0" y="16506"/>
                  </a:lnTo>
                  <a:cubicBezTo>
                    <a:pt x="0" y="12128"/>
                    <a:pt x="1739" y="7930"/>
                    <a:pt x="4834" y="4834"/>
                  </a:cubicBezTo>
                  <a:cubicBezTo>
                    <a:pt x="7930" y="1739"/>
                    <a:pt x="12128" y="0"/>
                    <a:pt x="16506" y="0"/>
                  </a:cubicBezTo>
                  <a:close/>
                </a:path>
              </a:pathLst>
            </a:custGeom>
            <a:solidFill>
              <a:srgbClr val="C440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74175" cy="857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  <a:r>
                <a:rPr lang="en-US" sz="2199" b="true">
                  <a:solidFill>
                    <a:srgbClr val="FFFFFF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Kekuatan Model: Metode Inverse Transform Empiris berhasil mereplikasi pola skewness (miring) dengan puncak tinggi di usia balita (&lt; 5 tahun) dan puncak kepadatan data asli serta ekor panjang ke kanan.</a:t>
              </a:r>
            </a:p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07200" y="1753992"/>
            <a:ext cx="5372199" cy="7101985"/>
            <a:chOff x="0" y="0"/>
            <a:chExt cx="1889204" cy="24975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9203" cy="2497505"/>
            </a:xfrm>
            <a:custGeom>
              <a:avLst/>
              <a:gdLst/>
              <a:ahLst/>
              <a:cxnLst/>
              <a:rect r="r" b="b" t="t" l="l"/>
              <a:pathLst>
                <a:path h="2497505" w="1889203">
                  <a:moveTo>
                    <a:pt x="36028" y="0"/>
                  </a:moveTo>
                  <a:lnTo>
                    <a:pt x="1853176" y="0"/>
                  </a:lnTo>
                  <a:cubicBezTo>
                    <a:pt x="1862731" y="0"/>
                    <a:pt x="1871895" y="3796"/>
                    <a:pt x="1878651" y="10552"/>
                  </a:cubicBezTo>
                  <a:cubicBezTo>
                    <a:pt x="1885408" y="17309"/>
                    <a:pt x="1889203" y="26473"/>
                    <a:pt x="1889203" y="36028"/>
                  </a:cubicBezTo>
                  <a:lnTo>
                    <a:pt x="1889203" y="2461478"/>
                  </a:lnTo>
                  <a:cubicBezTo>
                    <a:pt x="1889203" y="2471033"/>
                    <a:pt x="1885408" y="2480196"/>
                    <a:pt x="1878651" y="2486953"/>
                  </a:cubicBezTo>
                  <a:cubicBezTo>
                    <a:pt x="1871895" y="2493710"/>
                    <a:pt x="1862731" y="2497505"/>
                    <a:pt x="1853176" y="2497505"/>
                  </a:cubicBezTo>
                  <a:lnTo>
                    <a:pt x="36028" y="2497505"/>
                  </a:lnTo>
                  <a:cubicBezTo>
                    <a:pt x="26473" y="2497505"/>
                    <a:pt x="17309" y="2493710"/>
                    <a:pt x="10552" y="2486953"/>
                  </a:cubicBezTo>
                  <a:cubicBezTo>
                    <a:pt x="3796" y="2480196"/>
                    <a:pt x="0" y="2471033"/>
                    <a:pt x="0" y="2461478"/>
                  </a:cubicBezTo>
                  <a:lnTo>
                    <a:pt x="0" y="36028"/>
                  </a:lnTo>
                  <a:cubicBezTo>
                    <a:pt x="0" y="26473"/>
                    <a:pt x="3796" y="17309"/>
                    <a:pt x="10552" y="10552"/>
                  </a:cubicBezTo>
                  <a:cubicBezTo>
                    <a:pt x="17309" y="3796"/>
                    <a:pt x="26473" y="0"/>
                    <a:pt x="36028" y="0"/>
                  </a:cubicBezTo>
                  <a:close/>
                </a:path>
              </a:pathLst>
            </a:custGeom>
            <a:solidFill>
              <a:srgbClr val="C44042">
                <a:alpha val="9490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89204" cy="2526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>
                      <a:alpha val="94902"/>
                    </a:srgbClr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Kesimpulan Validasi: </a:t>
              </a:r>
            </a:p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>
                      <a:alpha val="94902"/>
                    </a:srgbClr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Kurva kepadatan simulasi sangat berimpit dengan data asli.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93288" y="6438739"/>
            <a:ext cx="7173561" cy="1478890"/>
            <a:chOff x="0" y="0"/>
            <a:chExt cx="2522676" cy="520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22676" cy="520071"/>
            </a:xfrm>
            <a:custGeom>
              <a:avLst/>
              <a:gdLst/>
              <a:ahLst/>
              <a:cxnLst/>
              <a:rect r="r" b="b" t="t" l="l"/>
              <a:pathLst>
                <a:path h="520071" w="2522676">
                  <a:moveTo>
                    <a:pt x="16188" y="0"/>
                  </a:moveTo>
                  <a:lnTo>
                    <a:pt x="2506487" y="0"/>
                  </a:lnTo>
                  <a:cubicBezTo>
                    <a:pt x="2510781" y="0"/>
                    <a:pt x="2514898" y="1706"/>
                    <a:pt x="2517934" y="4741"/>
                  </a:cubicBezTo>
                  <a:cubicBezTo>
                    <a:pt x="2520970" y="7777"/>
                    <a:pt x="2522676" y="11895"/>
                    <a:pt x="2522676" y="16188"/>
                  </a:cubicBezTo>
                  <a:lnTo>
                    <a:pt x="2522676" y="503882"/>
                  </a:lnTo>
                  <a:cubicBezTo>
                    <a:pt x="2522676" y="508176"/>
                    <a:pt x="2520970" y="512293"/>
                    <a:pt x="2517934" y="515329"/>
                  </a:cubicBezTo>
                  <a:cubicBezTo>
                    <a:pt x="2514898" y="518365"/>
                    <a:pt x="2510781" y="520071"/>
                    <a:pt x="2506487" y="520071"/>
                  </a:cubicBezTo>
                  <a:lnTo>
                    <a:pt x="16188" y="520071"/>
                  </a:lnTo>
                  <a:cubicBezTo>
                    <a:pt x="11895" y="520071"/>
                    <a:pt x="7777" y="518365"/>
                    <a:pt x="4741" y="515329"/>
                  </a:cubicBezTo>
                  <a:cubicBezTo>
                    <a:pt x="1706" y="512293"/>
                    <a:pt x="0" y="508176"/>
                    <a:pt x="0" y="503882"/>
                  </a:cubicBezTo>
                  <a:lnTo>
                    <a:pt x="0" y="16188"/>
                  </a:lnTo>
                  <a:cubicBezTo>
                    <a:pt x="0" y="11895"/>
                    <a:pt x="1706" y="7777"/>
                    <a:pt x="4741" y="4741"/>
                  </a:cubicBezTo>
                  <a:cubicBezTo>
                    <a:pt x="7777" y="1706"/>
                    <a:pt x="11895" y="0"/>
                    <a:pt x="16188" y="0"/>
                  </a:cubicBezTo>
                  <a:close/>
                </a:path>
              </a:pathLst>
            </a:custGeom>
            <a:solidFill>
              <a:srgbClr val="B22F3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522676" cy="539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Kontras: Transformasi Linear (Min-Max) gagal mereplikasi bentuk distribusi ini.</a:t>
              </a:r>
            </a:p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8632221">
            <a:off x="7393068" y="626957"/>
            <a:ext cx="1838912" cy="1688456"/>
          </a:xfrm>
          <a:custGeom>
            <a:avLst/>
            <a:gdLst/>
            <a:ahLst/>
            <a:cxnLst/>
            <a:rect r="r" b="b" t="t" l="l"/>
            <a:pathLst>
              <a:path h="1688456" w="1838912">
                <a:moveTo>
                  <a:pt x="1838912" y="0"/>
                </a:moveTo>
                <a:lnTo>
                  <a:pt x="0" y="0"/>
                </a:lnTo>
                <a:lnTo>
                  <a:pt x="0" y="1688456"/>
                </a:lnTo>
                <a:lnTo>
                  <a:pt x="1838912" y="1688456"/>
                </a:lnTo>
                <a:lnTo>
                  <a:pt x="18389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66465" y="1933158"/>
            <a:ext cx="4815016" cy="4851402"/>
          </a:xfrm>
          <a:custGeom>
            <a:avLst/>
            <a:gdLst/>
            <a:ahLst/>
            <a:cxnLst/>
            <a:rect r="r" b="b" t="t" l="l"/>
            <a:pathLst>
              <a:path h="4851402" w="4815016">
                <a:moveTo>
                  <a:pt x="0" y="0"/>
                </a:moveTo>
                <a:lnTo>
                  <a:pt x="4815017" y="0"/>
                </a:lnTo>
                <a:lnTo>
                  <a:pt x="4815017" y="4851402"/>
                </a:lnTo>
                <a:lnTo>
                  <a:pt x="0" y="485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44723" y="1337835"/>
            <a:ext cx="56585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Hasil Visualisasi: Distribusi Umur (Asli vs Simulasi)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05133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3472009"/>
            </a:xfrm>
            <a:custGeom>
              <a:avLst/>
              <a:gdLst/>
              <a:ahLst/>
              <a:cxnLst/>
              <a:rect r="r" b="b" t="t" l="l"/>
              <a:pathLst>
                <a:path h="3472009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5755"/>
                    <a:pt x="16510" y="329045"/>
                    <a:pt x="17780" y="479646"/>
                  </a:cubicBezTo>
                  <a:cubicBezTo>
                    <a:pt x="19050" y="632936"/>
                    <a:pt x="17780" y="786225"/>
                    <a:pt x="16510" y="942205"/>
                  </a:cubicBezTo>
                  <a:cubicBezTo>
                    <a:pt x="15240" y="1100873"/>
                    <a:pt x="2540" y="2765548"/>
                    <a:pt x="2540" y="2924216"/>
                  </a:cubicBezTo>
                  <a:cubicBezTo>
                    <a:pt x="2540" y="3080195"/>
                    <a:pt x="1270" y="3236174"/>
                    <a:pt x="0" y="3392153"/>
                  </a:cubicBezTo>
                  <a:cubicBezTo>
                    <a:pt x="0" y="3417398"/>
                    <a:pt x="3810" y="3427558"/>
                    <a:pt x="15240" y="3432638"/>
                  </a:cubicBezTo>
                  <a:cubicBezTo>
                    <a:pt x="22860" y="3436448"/>
                    <a:pt x="31750" y="3438988"/>
                    <a:pt x="40640" y="3440258"/>
                  </a:cubicBezTo>
                  <a:cubicBezTo>
                    <a:pt x="188388" y="3445338"/>
                    <a:pt x="394007" y="3449148"/>
                    <a:pt x="599625" y="3454228"/>
                  </a:cubicBezTo>
                  <a:cubicBezTo>
                    <a:pt x="713257" y="3456768"/>
                    <a:pt x="826888" y="3461848"/>
                    <a:pt x="940520" y="3463118"/>
                  </a:cubicBezTo>
                  <a:cubicBezTo>
                    <a:pt x="1129906" y="3465658"/>
                    <a:pt x="3240205" y="3466928"/>
                    <a:pt x="3429591" y="3468198"/>
                  </a:cubicBezTo>
                  <a:cubicBezTo>
                    <a:pt x="3456646" y="3468198"/>
                    <a:pt x="3483701" y="3468198"/>
                    <a:pt x="3510756" y="3468198"/>
                  </a:cubicBezTo>
                  <a:cubicBezTo>
                    <a:pt x="3640621" y="3468198"/>
                    <a:pt x="3775897" y="3466928"/>
                    <a:pt x="3905761" y="3466928"/>
                  </a:cubicBezTo>
                  <a:cubicBezTo>
                    <a:pt x="4057270" y="3466928"/>
                    <a:pt x="4203367" y="3468198"/>
                    <a:pt x="4354876" y="3468198"/>
                  </a:cubicBezTo>
                  <a:cubicBezTo>
                    <a:pt x="4576728" y="3468198"/>
                    <a:pt x="4803991" y="3468198"/>
                    <a:pt x="5025843" y="3468198"/>
                  </a:cubicBezTo>
                  <a:cubicBezTo>
                    <a:pt x="5231462" y="3468198"/>
                    <a:pt x="5437081" y="3469468"/>
                    <a:pt x="5642700" y="3470738"/>
                  </a:cubicBezTo>
                  <a:cubicBezTo>
                    <a:pt x="5734687" y="3470738"/>
                    <a:pt x="5832086" y="3472008"/>
                    <a:pt x="5924073" y="3472008"/>
                  </a:cubicBezTo>
                  <a:cubicBezTo>
                    <a:pt x="6221680" y="3470738"/>
                    <a:pt x="6513874" y="3464388"/>
                    <a:pt x="6791779" y="3464388"/>
                  </a:cubicBezTo>
                  <a:cubicBezTo>
                    <a:pt x="6795589" y="3464388"/>
                    <a:pt x="6800669" y="3461848"/>
                    <a:pt x="6804479" y="3459308"/>
                  </a:cubicBezTo>
                  <a:cubicBezTo>
                    <a:pt x="6809559" y="3455498"/>
                    <a:pt x="6812099" y="3449148"/>
                    <a:pt x="6814639" y="3446608"/>
                  </a:cubicBezTo>
                  <a:cubicBezTo>
                    <a:pt x="6815909" y="3373328"/>
                    <a:pt x="6817179" y="3260378"/>
                    <a:pt x="6818449" y="3147427"/>
                  </a:cubicBezTo>
                  <a:cubicBezTo>
                    <a:pt x="6819719" y="2972623"/>
                    <a:pt x="6829879" y="1294502"/>
                    <a:pt x="6831149" y="1119698"/>
                  </a:cubicBezTo>
                  <a:cubicBezTo>
                    <a:pt x="6831149" y="1014815"/>
                    <a:pt x="6832419" y="909933"/>
                    <a:pt x="6833689" y="805050"/>
                  </a:cubicBezTo>
                  <a:cubicBezTo>
                    <a:pt x="6834959" y="692100"/>
                    <a:pt x="6836229" y="579150"/>
                    <a:pt x="6838769" y="466199"/>
                  </a:cubicBezTo>
                  <a:cubicBezTo>
                    <a:pt x="6840039" y="398967"/>
                    <a:pt x="6840039" y="329045"/>
                    <a:pt x="6845119" y="261813"/>
                  </a:cubicBezTo>
                  <a:cubicBezTo>
                    <a:pt x="6850199" y="181134"/>
                    <a:pt x="6852739" y="10314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92180" y="3017876"/>
            <a:ext cx="6076525" cy="1660547"/>
            <a:chOff x="0" y="0"/>
            <a:chExt cx="538967" cy="1472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967" cy="147285"/>
            </a:xfrm>
            <a:custGeom>
              <a:avLst/>
              <a:gdLst/>
              <a:ahLst/>
              <a:cxnLst/>
              <a:rect r="r" b="b" t="t" l="l"/>
              <a:pathLst>
                <a:path h="147285" w="538967">
                  <a:moveTo>
                    <a:pt x="24884" y="0"/>
                  </a:moveTo>
                  <a:lnTo>
                    <a:pt x="514083" y="0"/>
                  </a:lnTo>
                  <a:cubicBezTo>
                    <a:pt x="527826" y="0"/>
                    <a:pt x="538967" y="11141"/>
                    <a:pt x="538967" y="24884"/>
                  </a:cubicBezTo>
                  <a:lnTo>
                    <a:pt x="538967" y="122401"/>
                  </a:lnTo>
                  <a:cubicBezTo>
                    <a:pt x="538967" y="136144"/>
                    <a:pt x="527826" y="147285"/>
                    <a:pt x="514083" y="147285"/>
                  </a:cubicBezTo>
                  <a:lnTo>
                    <a:pt x="24884" y="147285"/>
                  </a:lnTo>
                  <a:cubicBezTo>
                    <a:pt x="11141" y="147285"/>
                    <a:pt x="0" y="136144"/>
                    <a:pt x="0" y="122401"/>
                  </a:cubicBezTo>
                  <a:lnTo>
                    <a:pt x="0" y="24884"/>
                  </a:lnTo>
                  <a:cubicBezTo>
                    <a:pt x="0" y="11141"/>
                    <a:pt x="11141" y="0"/>
                    <a:pt x="24884" y="0"/>
                  </a:cubicBezTo>
                  <a:close/>
                </a:path>
              </a:pathLst>
            </a:custGeom>
            <a:solidFill>
              <a:srgbClr val="E4797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38967" cy="175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92180" y="5019675"/>
            <a:ext cx="6076525" cy="1547619"/>
            <a:chOff x="0" y="0"/>
            <a:chExt cx="635000" cy="161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" cy="161727"/>
            </a:xfrm>
            <a:custGeom>
              <a:avLst/>
              <a:gdLst/>
              <a:ahLst/>
              <a:cxnLst/>
              <a:rect r="r" b="b" t="t" l="l"/>
              <a:pathLst>
                <a:path h="161727" w="635000">
                  <a:moveTo>
                    <a:pt x="24884" y="0"/>
                  </a:moveTo>
                  <a:lnTo>
                    <a:pt x="610116" y="0"/>
                  </a:lnTo>
                  <a:cubicBezTo>
                    <a:pt x="623859" y="0"/>
                    <a:pt x="635000" y="11141"/>
                    <a:pt x="635000" y="24884"/>
                  </a:cubicBezTo>
                  <a:lnTo>
                    <a:pt x="635000" y="136843"/>
                  </a:lnTo>
                  <a:cubicBezTo>
                    <a:pt x="635000" y="143443"/>
                    <a:pt x="632378" y="149772"/>
                    <a:pt x="627712" y="154439"/>
                  </a:cubicBezTo>
                  <a:cubicBezTo>
                    <a:pt x="623045" y="159105"/>
                    <a:pt x="616716" y="161727"/>
                    <a:pt x="610116" y="161727"/>
                  </a:cubicBezTo>
                  <a:lnTo>
                    <a:pt x="24884" y="161727"/>
                  </a:lnTo>
                  <a:cubicBezTo>
                    <a:pt x="11141" y="161727"/>
                    <a:pt x="0" y="150586"/>
                    <a:pt x="0" y="136843"/>
                  </a:cubicBezTo>
                  <a:lnTo>
                    <a:pt x="0" y="24884"/>
                  </a:lnTo>
                  <a:cubicBezTo>
                    <a:pt x="0" y="11141"/>
                    <a:pt x="11141" y="0"/>
                    <a:pt x="24884" y="0"/>
                  </a:cubicBezTo>
                  <a:close/>
                </a:path>
              </a:pathLst>
            </a:custGeom>
            <a:solidFill>
              <a:srgbClr val="E4797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35000" cy="190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267066" y="1541172"/>
            <a:ext cx="7726751" cy="171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50"/>
              </a:lnSpc>
            </a:pPr>
            <a:r>
              <a:rPr lang="en-US" b="true" sz="4450" spc="-44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VALIDASI ASAL DAERAH (DISKRIT)</a:t>
            </a:r>
          </a:p>
          <a:p>
            <a:pPr algn="r" marL="0" indent="0" lvl="0">
              <a:lnSpc>
                <a:spcPts val="445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571540" y="3367136"/>
            <a:ext cx="559716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Kesimpulan Validasi: Teknik Sampling Diskrit mengonservasi proporsi relatif antar-wilayah secara akurat.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8910" y="5259442"/>
            <a:ext cx="5683064" cy="104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  <a:spcBef>
                <a:spcPct val="0"/>
              </a:spcBef>
            </a:pPr>
            <a:r>
              <a:rPr lang="en-US" b="true" sz="214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Proporsi Bandar Lampung tetap dominan dengan proporsi sekitar 46% dalam  data simulasi, diikuti Lampung Selatan.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807185" y="1910369"/>
            <a:ext cx="6624889" cy="6633181"/>
          </a:xfrm>
          <a:custGeom>
            <a:avLst/>
            <a:gdLst/>
            <a:ahLst/>
            <a:cxnLst/>
            <a:rect r="r" b="b" t="t" l="l"/>
            <a:pathLst>
              <a:path h="6633181" w="6624889">
                <a:moveTo>
                  <a:pt x="0" y="0"/>
                </a:moveTo>
                <a:lnTo>
                  <a:pt x="6624890" y="0"/>
                </a:lnTo>
                <a:lnTo>
                  <a:pt x="6624890" y="6633181"/>
                </a:lnTo>
                <a:lnTo>
                  <a:pt x="0" y="6633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07185" y="1455447"/>
            <a:ext cx="71691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Hasil Visualisasi: Proporsi Asal Penyandang (Asli vs Simulasi)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092180" y="6883003"/>
            <a:ext cx="6076525" cy="1660547"/>
            <a:chOff x="0" y="0"/>
            <a:chExt cx="538967" cy="1472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967" cy="147285"/>
            </a:xfrm>
            <a:custGeom>
              <a:avLst/>
              <a:gdLst/>
              <a:ahLst/>
              <a:cxnLst/>
              <a:rect r="r" b="b" t="t" l="l"/>
              <a:pathLst>
                <a:path h="147285" w="538967">
                  <a:moveTo>
                    <a:pt x="24884" y="0"/>
                  </a:moveTo>
                  <a:lnTo>
                    <a:pt x="514083" y="0"/>
                  </a:lnTo>
                  <a:cubicBezTo>
                    <a:pt x="527826" y="0"/>
                    <a:pt x="538967" y="11141"/>
                    <a:pt x="538967" y="24884"/>
                  </a:cubicBezTo>
                  <a:lnTo>
                    <a:pt x="538967" y="122401"/>
                  </a:lnTo>
                  <a:cubicBezTo>
                    <a:pt x="538967" y="136144"/>
                    <a:pt x="527826" y="147285"/>
                    <a:pt x="514083" y="147285"/>
                  </a:cubicBezTo>
                  <a:lnTo>
                    <a:pt x="24884" y="147285"/>
                  </a:lnTo>
                  <a:cubicBezTo>
                    <a:pt x="11141" y="147285"/>
                    <a:pt x="0" y="136144"/>
                    <a:pt x="0" y="122401"/>
                  </a:cubicBezTo>
                  <a:lnTo>
                    <a:pt x="0" y="24884"/>
                  </a:lnTo>
                  <a:cubicBezTo>
                    <a:pt x="0" y="11141"/>
                    <a:pt x="11141" y="0"/>
                    <a:pt x="24884" y="0"/>
                  </a:cubicBezTo>
                  <a:close/>
                </a:path>
              </a:pathLst>
            </a:custGeom>
            <a:solidFill>
              <a:srgbClr val="E4797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38967" cy="175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374810" y="7048125"/>
            <a:ext cx="559716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</a:t>
            </a: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simulasi (batang pendamping) menunjukkan tinggi yang hampir identik dengan data asli, membuktikan bahwa probabilitas kategori terjaga dengan baik.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A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351" y="3253633"/>
            <a:ext cx="16230600" cy="6215799"/>
            <a:chOff x="0" y="0"/>
            <a:chExt cx="6851469" cy="2623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564"/>
              <a:ext cx="6851793" cy="2621917"/>
            </a:xfrm>
            <a:custGeom>
              <a:avLst/>
              <a:gdLst/>
              <a:ahLst/>
              <a:cxnLst/>
              <a:rect r="r" b="b" t="t" l="l"/>
              <a:pathLst>
                <a:path h="2621917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47644"/>
                    <a:pt x="16510" y="261960"/>
                    <a:pt x="17780" y="374270"/>
                  </a:cubicBezTo>
                  <a:cubicBezTo>
                    <a:pt x="19050" y="488586"/>
                    <a:pt x="17780" y="602902"/>
                    <a:pt x="16510" y="719223"/>
                  </a:cubicBezTo>
                  <a:cubicBezTo>
                    <a:pt x="15240" y="837550"/>
                    <a:pt x="2540" y="2078980"/>
                    <a:pt x="2540" y="2197306"/>
                  </a:cubicBezTo>
                  <a:cubicBezTo>
                    <a:pt x="2540" y="2313627"/>
                    <a:pt x="1270" y="2429949"/>
                    <a:pt x="0" y="2546270"/>
                  </a:cubicBezTo>
                  <a:cubicBezTo>
                    <a:pt x="0" y="2567307"/>
                    <a:pt x="3810" y="2577467"/>
                    <a:pt x="15240" y="2582547"/>
                  </a:cubicBezTo>
                  <a:cubicBezTo>
                    <a:pt x="22860" y="2586357"/>
                    <a:pt x="31750" y="2588897"/>
                    <a:pt x="40640" y="2590167"/>
                  </a:cubicBezTo>
                  <a:cubicBezTo>
                    <a:pt x="188388" y="2595247"/>
                    <a:pt x="394007" y="2599057"/>
                    <a:pt x="599625" y="2604137"/>
                  </a:cubicBezTo>
                  <a:cubicBezTo>
                    <a:pt x="713257" y="2606677"/>
                    <a:pt x="826888" y="2611757"/>
                    <a:pt x="940520" y="2613027"/>
                  </a:cubicBezTo>
                  <a:cubicBezTo>
                    <a:pt x="1129906" y="2615567"/>
                    <a:pt x="3240205" y="2616837"/>
                    <a:pt x="3429591" y="2618107"/>
                  </a:cubicBezTo>
                  <a:cubicBezTo>
                    <a:pt x="3456646" y="2618107"/>
                    <a:pt x="3483701" y="2618107"/>
                    <a:pt x="3510756" y="2618107"/>
                  </a:cubicBezTo>
                  <a:cubicBezTo>
                    <a:pt x="3640621" y="2618107"/>
                    <a:pt x="3775897" y="2616837"/>
                    <a:pt x="3905761" y="2616837"/>
                  </a:cubicBezTo>
                  <a:cubicBezTo>
                    <a:pt x="4057270" y="2616837"/>
                    <a:pt x="4203367" y="2618107"/>
                    <a:pt x="4354876" y="2618107"/>
                  </a:cubicBezTo>
                  <a:cubicBezTo>
                    <a:pt x="4576728" y="2618107"/>
                    <a:pt x="4803991" y="2618107"/>
                    <a:pt x="5025843" y="2618107"/>
                  </a:cubicBezTo>
                  <a:cubicBezTo>
                    <a:pt x="5231462" y="2618107"/>
                    <a:pt x="5437081" y="2619377"/>
                    <a:pt x="5642700" y="2620647"/>
                  </a:cubicBezTo>
                  <a:cubicBezTo>
                    <a:pt x="5734687" y="2620647"/>
                    <a:pt x="5832086" y="2621917"/>
                    <a:pt x="5924073" y="2621917"/>
                  </a:cubicBezTo>
                  <a:cubicBezTo>
                    <a:pt x="6221680" y="2620647"/>
                    <a:pt x="6513874" y="2614297"/>
                    <a:pt x="6791779" y="2614297"/>
                  </a:cubicBezTo>
                  <a:cubicBezTo>
                    <a:pt x="6795589" y="2614297"/>
                    <a:pt x="6800669" y="2611757"/>
                    <a:pt x="6804479" y="2609217"/>
                  </a:cubicBezTo>
                  <a:cubicBezTo>
                    <a:pt x="6809559" y="2605407"/>
                    <a:pt x="6812099" y="2599057"/>
                    <a:pt x="6814639" y="2596517"/>
                  </a:cubicBezTo>
                  <a:cubicBezTo>
                    <a:pt x="6815909" y="2532231"/>
                    <a:pt x="6817179" y="2447999"/>
                    <a:pt x="6818449" y="2363766"/>
                  </a:cubicBezTo>
                  <a:cubicBezTo>
                    <a:pt x="6819719" y="2233406"/>
                    <a:pt x="6829879" y="981949"/>
                    <a:pt x="6831149" y="851589"/>
                  </a:cubicBezTo>
                  <a:cubicBezTo>
                    <a:pt x="6831149" y="773373"/>
                    <a:pt x="6832419" y="695157"/>
                    <a:pt x="6833689" y="616940"/>
                  </a:cubicBezTo>
                  <a:cubicBezTo>
                    <a:pt x="6834959" y="532708"/>
                    <a:pt x="6836229" y="448475"/>
                    <a:pt x="6838769" y="364242"/>
                  </a:cubicBezTo>
                  <a:cubicBezTo>
                    <a:pt x="6840039" y="314104"/>
                    <a:pt x="6840039" y="261960"/>
                    <a:pt x="6845119" y="211821"/>
                  </a:cubicBezTo>
                  <a:cubicBezTo>
                    <a:pt x="6850199" y="151655"/>
                    <a:pt x="6852739" y="9349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65002" y="1297570"/>
            <a:ext cx="1114182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</a:pPr>
            <a:r>
              <a:rPr lang="en-US" b="true" sz="5000" spc="-50">
                <a:solidFill>
                  <a:srgbClr val="FFFFFF"/>
                </a:solidFill>
                <a:latin typeface="Bogart Bold"/>
                <a:ea typeface="Bogart Bold"/>
                <a:cs typeface="Bogart Bold"/>
                <a:sym typeface="Bogart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204374" y="1361033"/>
            <a:ext cx="1298576" cy="389020"/>
          </a:xfrm>
          <a:custGeom>
            <a:avLst/>
            <a:gdLst/>
            <a:ahLst/>
            <a:cxnLst/>
            <a:rect r="r" b="b" t="t" l="l"/>
            <a:pathLst>
              <a:path h="389020" w="1298576">
                <a:moveTo>
                  <a:pt x="0" y="0"/>
                </a:moveTo>
                <a:lnTo>
                  <a:pt x="1298576" y="0"/>
                </a:lnTo>
                <a:lnTo>
                  <a:pt x="1298576" y="389019"/>
                </a:lnTo>
                <a:lnTo>
                  <a:pt x="0" y="389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1231" r="-1573" b="-185668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92604">
            <a:off x="11393754" y="1361033"/>
            <a:ext cx="1298576" cy="389020"/>
          </a:xfrm>
          <a:custGeom>
            <a:avLst/>
            <a:gdLst/>
            <a:ahLst/>
            <a:cxnLst/>
            <a:rect r="r" b="b" t="t" l="l"/>
            <a:pathLst>
              <a:path h="389020" w="1298576">
                <a:moveTo>
                  <a:pt x="1298575" y="389019"/>
                </a:moveTo>
                <a:lnTo>
                  <a:pt x="0" y="389019"/>
                </a:lnTo>
                <a:lnTo>
                  <a:pt x="0" y="0"/>
                </a:lnTo>
                <a:lnTo>
                  <a:pt x="1298575" y="0"/>
                </a:lnTo>
                <a:lnTo>
                  <a:pt x="1298575" y="389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1231" r="-1573" b="-18566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1282" y="2186570"/>
            <a:ext cx="9709348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b="true" sz="3099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Keberhasilan Utama Penelitian: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93169" y="4059525"/>
            <a:ext cx="4227323" cy="4604015"/>
          </a:xfrm>
          <a:custGeom>
            <a:avLst/>
            <a:gdLst/>
            <a:ahLst/>
            <a:cxnLst/>
            <a:rect r="r" b="b" t="t" l="l"/>
            <a:pathLst>
              <a:path h="4604015" w="4227323">
                <a:moveTo>
                  <a:pt x="0" y="0"/>
                </a:moveTo>
                <a:lnTo>
                  <a:pt x="4227323" y="0"/>
                </a:lnTo>
                <a:lnTo>
                  <a:pt x="4227323" y="4604015"/>
                </a:lnTo>
                <a:lnTo>
                  <a:pt x="0" y="460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09710" y="3912469"/>
            <a:ext cx="9379040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Kombinasi RNG (LCG) dengan Inverse Transform Empiris terbukti efektif dan superior dalam menghasilkan sampel sintetis.</a:t>
            </a:r>
          </a:p>
          <a:p>
            <a:pPr algn="just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Dataset simulasi N=5.000 berhasil mempertahankan karakteristik penting distribusi empiris (umur terdeteksi dan asal penyandang).</a:t>
            </a:r>
          </a:p>
          <a:p>
            <a:pPr algn="just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Data sintetis ini dapat digunakan untuk analisis Monte Carlo, studi skenario intervensi deteksi dini, dan perencanaan kapasitas layanan diagnosis kesehatan.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564"/>
              <a:ext cx="6851793" cy="3472009"/>
            </a:xfrm>
            <a:custGeom>
              <a:avLst/>
              <a:gdLst/>
              <a:ahLst/>
              <a:cxnLst/>
              <a:rect r="r" b="b" t="t" l="l"/>
              <a:pathLst>
                <a:path h="3472009" w="6851793">
                  <a:moveTo>
                    <a:pt x="6841309" y="27234"/>
                  </a:moveTo>
                  <a:cubicBezTo>
                    <a:pt x="6832419" y="23424"/>
                    <a:pt x="6823529" y="20884"/>
                    <a:pt x="6814639" y="20884"/>
                  </a:cubicBezTo>
                  <a:cubicBezTo>
                    <a:pt x="6787969" y="19614"/>
                    <a:pt x="6687027" y="19614"/>
                    <a:pt x="6573396" y="17074"/>
                  </a:cubicBezTo>
                  <a:cubicBezTo>
                    <a:pt x="6313667" y="11994"/>
                    <a:pt x="6059349" y="5644"/>
                    <a:pt x="5799620" y="3104"/>
                  </a:cubicBezTo>
                  <a:cubicBezTo>
                    <a:pt x="5588590" y="564"/>
                    <a:pt x="5382971" y="3104"/>
                    <a:pt x="5171941" y="1834"/>
                  </a:cubicBezTo>
                  <a:cubicBezTo>
                    <a:pt x="5079953" y="1834"/>
                    <a:pt x="4987966" y="-706"/>
                    <a:pt x="4895979" y="1834"/>
                  </a:cubicBezTo>
                  <a:cubicBezTo>
                    <a:pt x="4674127" y="9454"/>
                    <a:pt x="4452275" y="10724"/>
                    <a:pt x="4225012" y="8184"/>
                  </a:cubicBezTo>
                  <a:cubicBezTo>
                    <a:pt x="4111380" y="6914"/>
                    <a:pt x="3997749" y="6914"/>
                    <a:pt x="3884117" y="6914"/>
                  </a:cubicBezTo>
                  <a:cubicBezTo>
                    <a:pt x="3678498" y="6914"/>
                    <a:pt x="3472879" y="6914"/>
                    <a:pt x="3267261" y="5644"/>
                  </a:cubicBezTo>
                  <a:cubicBezTo>
                    <a:pt x="3050820" y="4374"/>
                    <a:pt x="918876" y="1834"/>
                    <a:pt x="707846" y="564"/>
                  </a:cubicBezTo>
                  <a:cubicBezTo>
                    <a:pt x="534693" y="-706"/>
                    <a:pt x="366952" y="564"/>
                    <a:pt x="193799" y="564"/>
                  </a:cubicBezTo>
                  <a:cubicBezTo>
                    <a:pt x="74756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75755"/>
                    <a:pt x="16510" y="329045"/>
                    <a:pt x="17780" y="479646"/>
                  </a:cubicBezTo>
                  <a:cubicBezTo>
                    <a:pt x="19050" y="632936"/>
                    <a:pt x="17780" y="786225"/>
                    <a:pt x="16510" y="942205"/>
                  </a:cubicBezTo>
                  <a:cubicBezTo>
                    <a:pt x="15240" y="1100873"/>
                    <a:pt x="2540" y="2765548"/>
                    <a:pt x="2540" y="2924216"/>
                  </a:cubicBezTo>
                  <a:cubicBezTo>
                    <a:pt x="2540" y="3080195"/>
                    <a:pt x="1270" y="3236174"/>
                    <a:pt x="0" y="3392153"/>
                  </a:cubicBezTo>
                  <a:cubicBezTo>
                    <a:pt x="0" y="3417398"/>
                    <a:pt x="3810" y="3427558"/>
                    <a:pt x="15240" y="3432638"/>
                  </a:cubicBezTo>
                  <a:cubicBezTo>
                    <a:pt x="22860" y="3436448"/>
                    <a:pt x="31750" y="3438988"/>
                    <a:pt x="40640" y="3440258"/>
                  </a:cubicBezTo>
                  <a:cubicBezTo>
                    <a:pt x="188388" y="3445338"/>
                    <a:pt x="394007" y="3449148"/>
                    <a:pt x="599625" y="3454228"/>
                  </a:cubicBezTo>
                  <a:cubicBezTo>
                    <a:pt x="713257" y="3456768"/>
                    <a:pt x="826888" y="3461848"/>
                    <a:pt x="940520" y="3463118"/>
                  </a:cubicBezTo>
                  <a:cubicBezTo>
                    <a:pt x="1129906" y="3465658"/>
                    <a:pt x="3240205" y="3466928"/>
                    <a:pt x="3429591" y="3468198"/>
                  </a:cubicBezTo>
                  <a:cubicBezTo>
                    <a:pt x="3456646" y="3468198"/>
                    <a:pt x="3483701" y="3468198"/>
                    <a:pt x="3510756" y="3468198"/>
                  </a:cubicBezTo>
                  <a:cubicBezTo>
                    <a:pt x="3640621" y="3468198"/>
                    <a:pt x="3775897" y="3466928"/>
                    <a:pt x="3905761" y="3466928"/>
                  </a:cubicBezTo>
                  <a:cubicBezTo>
                    <a:pt x="4057270" y="3466928"/>
                    <a:pt x="4203367" y="3468198"/>
                    <a:pt x="4354876" y="3468198"/>
                  </a:cubicBezTo>
                  <a:cubicBezTo>
                    <a:pt x="4576728" y="3468198"/>
                    <a:pt x="4803991" y="3468198"/>
                    <a:pt x="5025843" y="3468198"/>
                  </a:cubicBezTo>
                  <a:cubicBezTo>
                    <a:pt x="5231462" y="3468198"/>
                    <a:pt x="5437081" y="3469468"/>
                    <a:pt x="5642700" y="3470738"/>
                  </a:cubicBezTo>
                  <a:cubicBezTo>
                    <a:pt x="5734687" y="3470738"/>
                    <a:pt x="5832086" y="3472008"/>
                    <a:pt x="5924073" y="3472008"/>
                  </a:cubicBezTo>
                  <a:cubicBezTo>
                    <a:pt x="6221680" y="3470738"/>
                    <a:pt x="6513874" y="3464388"/>
                    <a:pt x="6791779" y="3464388"/>
                  </a:cubicBezTo>
                  <a:cubicBezTo>
                    <a:pt x="6795589" y="3464388"/>
                    <a:pt x="6800669" y="3461848"/>
                    <a:pt x="6804479" y="3459308"/>
                  </a:cubicBezTo>
                  <a:cubicBezTo>
                    <a:pt x="6809559" y="3455498"/>
                    <a:pt x="6812099" y="3449148"/>
                    <a:pt x="6814639" y="3446608"/>
                  </a:cubicBezTo>
                  <a:cubicBezTo>
                    <a:pt x="6815909" y="3373328"/>
                    <a:pt x="6817179" y="3260378"/>
                    <a:pt x="6818449" y="3147427"/>
                  </a:cubicBezTo>
                  <a:cubicBezTo>
                    <a:pt x="6819719" y="2972623"/>
                    <a:pt x="6829879" y="1294502"/>
                    <a:pt x="6831149" y="1119698"/>
                  </a:cubicBezTo>
                  <a:cubicBezTo>
                    <a:pt x="6831149" y="1014815"/>
                    <a:pt x="6832419" y="909933"/>
                    <a:pt x="6833689" y="805050"/>
                  </a:cubicBezTo>
                  <a:cubicBezTo>
                    <a:pt x="6834959" y="692100"/>
                    <a:pt x="6836229" y="579150"/>
                    <a:pt x="6838769" y="466199"/>
                  </a:cubicBezTo>
                  <a:cubicBezTo>
                    <a:pt x="6840039" y="398967"/>
                    <a:pt x="6840039" y="329045"/>
                    <a:pt x="6845119" y="261813"/>
                  </a:cubicBezTo>
                  <a:cubicBezTo>
                    <a:pt x="6850199" y="181134"/>
                    <a:pt x="6852739" y="103144"/>
                    <a:pt x="6851469" y="43744"/>
                  </a:cubicBezTo>
                  <a:cubicBezTo>
                    <a:pt x="6851469" y="37394"/>
                    <a:pt x="6847659" y="29774"/>
                    <a:pt x="6841309" y="27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90826" y="3382885"/>
            <a:ext cx="6831707" cy="4187421"/>
            <a:chOff x="0" y="0"/>
            <a:chExt cx="3882100" cy="2379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564"/>
              <a:ext cx="3882423" cy="2377515"/>
            </a:xfrm>
            <a:custGeom>
              <a:avLst/>
              <a:gdLst/>
              <a:ahLst/>
              <a:cxnLst/>
              <a:rect r="r" b="b" t="t" l="l"/>
              <a:pathLst>
                <a:path h="2377515" w="3882423">
                  <a:moveTo>
                    <a:pt x="3871940" y="27234"/>
                  </a:moveTo>
                  <a:cubicBezTo>
                    <a:pt x="3863049" y="23424"/>
                    <a:pt x="3854160" y="20884"/>
                    <a:pt x="3845270" y="20884"/>
                  </a:cubicBezTo>
                  <a:cubicBezTo>
                    <a:pt x="3818599" y="19614"/>
                    <a:pt x="3761227" y="19614"/>
                    <a:pt x="3697751" y="17074"/>
                  </a:cubicBezTo>
                  <a:cubicBezTo>
                    <a:pt x="3552663" y="11994"/>
                    <a:pt x="3410598" y="5644"/>
                    <a:pt x="3265510" y="3104"/>
                  </a:cubicBezTo>
                  <a:cubicBezTo>
                    <a:pt x="3147626" y="564"/>
                    <a:pt x="3032765" y="3104"/>
                    <a:pt x="2914881" y="1834"/>
                  </a:cubicBezTo>
                  <a:cubicBezTo>
                    <a:pt x="2863496" y="1834"/>
                    <a:pt x="2812111" y="-706"/>
                    <a:pt x="2760725" y="1834"/>
                  </a:cubicBezTo>
                  <a:cubicBezTo>
                    <a:pt x="2636796" y="9454"/>
                    <a:pt x="2512867" y="10724"/>
                    <a:pt x="2385915" y="8184"/>
                  </a:cubicBezTo>
                  <a:cubicBezTo>
                    <a:pt x="2322439" y="6914"/>
                    <a:pt x="2258963" y="6914"/>
                    <a:pt x="2195487" y="6914"/>
                  </a:cubicBezTo>
                  <a:cubicBezTo>
                    <a:pt x="2080626" y="6914"/>
                    <a:pt x="1965765" y="6914"/>
                    <a:pt x="1850903" y="5644"/>
                  </a:cubicBezTo>
                  <a:cubicBezTo>
                    <a:pt x="1729997" y="4374"/>
                    <a:pt x="539067" y="1834"/>
                    <a:pt x="421183" y="564"/>
                  </a:cubicBezTo>
                  <a:cubicBezTo>
                    <a:pt x="324458" y="-706"/>
                    <a:pt x="230756" y="564"/>
                    <a:pt x="134030" y="564"/>
                  </a:cubicBezTo>
                  <a:cubicBezTo>
                    <a:pt x="67532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9562"/>
                    <a:pt x="16510" y="242673"/>
                    <a:pt x="17780" y="343975"/>
                  </a:cubicBezTo>
                  <a:cubicBezTo>
                    <a:pt x="19050" y="447085"/>
                    <a:pt x="17780" y="550196"/>
                    <a:pt x="16510" y="655116"/>
                  </a:cubicBezTo>
                  <a:cubicBezTo>
                    <a:pt x="15240" y="761844"/>
                    <a:pt x="2540" y="1881590"/>
                    <a:pt x="2540" y="1988319"/>
                  </a:cubicBezTo>
                  <a:cubicBezTo>
                    <a:pt x="2540" y="2093238"/>
                    <a:pt x="1270" y="2198158"/>
                    <a:pt x="0" y="2303078"/>
                  </a:cubicBezTo>
                  <a:cubicBezTo>
                    <a:pt x="0" y="2322905"/>
                    <a:pt x="3810" y="2333065"/>
                    <a:pt x="15240" y="2338145"/>
                  </a:cubicBezTo>
                  <a:cubicBezTo>
                    <a:pt x="22860" y="2341955"/>
                    <a:pt x="31750" y="2344495"/>
                    <a:pt x="40640" y="2345765"/>
                  </a:cubicBezTo>
                  <a:cubicBezTo>
                    <a:pt x="131008" y="2350845"/>
                    <a:pt x="245869" y="2354655"/>
                    <a:pt x="360730" y="2359735"/>
                  </a:cubicBezTo>
                  <a:cubicBezTo>
                    <a:pt x="424206" y="2362275"/>
                    <a:pt x="487682" y="2367355"/>
                    <a:pt x="551158" y="2368625"/>
                  </a:cubicBezTo>
                  <a:cubicBezTo>
                    <a:pt x="656951" y="2371165"/>
                    <a:pt x="1835790" y="2372435"/>
                    <a:pt x="1941583" y="2373705"/>
                  </a:cubicBezTo>
                  <a:cubicBezTo>
                    <a:pt x="1956697" y="2373705"/>
                    <a:pt x="1971810" y="2373705"/>
                    <a:pt x="1986923" y="2373705"/>
                  </a:cubicBezTo>
                  <a:cubicBezTo>
                    <a:pt x="2059467" y="2373705"/>
                    <a:pt x="2135034" y="2372435"/>
                    <a:pt x="2207578" y="2372435"/>
                  </a:cubicBezTo>
                  <a:cubicBezTo>
                    <a:pt x="2292212" y="2372435"/>
                    <a:pt x="2373824" y="2373705"/>
                    <a:pt x="2458459" y="2373705"/>
                  </a:cubicBezTo>
                  <a:cubicBezTo>
                    <a:pt x="2582388" y="2373705"/>
                    <a:pt x="2709340" y="2373705"/>
                    <a:pt x="2833269" y="2373705"/>
                  </a:cubicBezTo>
                  <a:cubicBezTo>
                    <a:pt x="2948130" y="2373705"/>
                    <a:pt x="3062992" y="2374975"/>
                    <a:pt x="3177853" y="2376245"/>
                  </a:cubicBezTo>
                  <a:cubicBezTo>
                    <a:pt x="3229238" y="2376245"/>
                    <a:pt x="3283646" y="2377515"/>
                    <a:pt x="3335031" y="2377515"/>
                  </a:cubicBezTo>
                  <a:cubicBezTo>
                    <a:pt x="3501278" y="2376245"/>
                    <a:pt x="3664502" y="2369895"/>
                    <a:pt x="3822409" y="2369895"/>
                  </a:cubicBezTo>
                  <a:cubicBezTo>
                    <a:pt x="3826220" y="2369895"/>
                    <a:pt x="3831299" y="2367355"/>
                    <a:pt x="3835109" y="2364815"/>
                  </a:cubicBezTo>
                  <a:cubicBezTo>
                    <a:pt x="3840190" y="2361005"/>
                    <a:pt x="3842729" y="2354655"/>
                    <a:pt x="3845270" y="2352115"/>
                  </a:cubicBezTo>
                  <a:cubicBezTo>
                    <a:pt x="3846540" y="2290415"/>
                    <a:pt x="3847809" y="2214439"/>
                    <a:pt x="3849079" y="2138462"/>
                  </a:cubicBezTo>
                  <a:cubicBezTo>
                    <a:pt x="3850349" y="2020880"/>
                    <a:pt x="3860509" y="892089"/>
                    <a:pt x="3861779" y="774507"/>
                  </a:cubicBezTo>
                  <a:cubicBezTo>
                    <a:pt x="3861779" y="703957"/>
                    <a:pt x="3863049" y="633408"/>
                    <a:pt x="3864320" y="562859"/>
                  </a:cubicBezTo>
                  <a:cubicBezTo>
                    <a:pt x="3865590" y="486882"/>
                    <a:pt x="3866859" y="410906"/>
                    <a:pt x="3869399" y="334930"/>
                  </a:cubicBezTo>
                  <a:cubicBezTo>
                    <a:pt x="3870670" y="289706"/>
                    <a:pt x="3870670" y="242673"/>
                    <a:pt x="3875749" y="197449"/>
                  </a:cubicBezTo>
                  <a:cubicBezTo>
                    <a:pt x="3880829" y="143180"/>
                    <a:pt x="3883370" y="90720"/>
                    <a:pt x="3882099" y="43744"/>
                  </a:cubicBezTo>
                  <a:cubicBezTo>
                    <a:pt x="3882099" y="37394"/>
                    <a:pt x="3878290" y="29774"/>
                    <a:pt x="3871940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73516" y="3235128"/>
            <a:ext cx="6516071" cy="4839932"/>
            <a:chOff x="0" y="0"/>
            <a:chExt cx="3702740" cy="27502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564"/>
              <a:ext cx="3703064" cy="2748303"/>
            </a:xfrm>
            <a:custGeom>
              <a:avLst/>
              <a:gdLst/>
              <a:ahLst/>
              <a:cxnLst/>
              <a:rect r="r" b="b" t="t" l="l"/>
              <a:pathLst>
                <a:path h="2748303" w="3703064">
                  <a:moveTo>
                    <a:pt x="3692580" y="27234"/>
                  </a:moveTo>
                  <a:cubicBezTo>
                    <a:pt x="3683690" y="23424"/>
                    <a:pt x="3674800" y="20884"/>
                    <a:pt x="3665910" y="20884"/>
                  </a:cubicBezTo>
                  <a:cubicBezTo>
                    <a:pt x="3639240" y="19614"/>
                    <a:pt x="3584499" y="19614"/>
                    <a:pt x="3524053" y="17074"/>
                  </a:cubicBezTo>
                  <a:cubicBezTo>
                    <a:pt x="3385890" y="11994"/>
                    <a:pt x="3250605" y="5644"/>
                    <a:pt x="3112442" y="3104"/>
                  </a:cubicBezTo>
                  <a:cubicBezTo>
                    <a:pt x="3000184" y="564"/>
                    <a:pt x="2890805" y="3104"/>
                    <a:pt x="2778548" y="1834"/>
                  </a:cubicBezTo>
                  <a:cubicBezTo>
                    <a:pt x="2729615" y="1834"/>
                    <a:pt x="2680682" y="-706"/>
                    <a:pt x="2631749" y="1834"/>
                  </a:cubicBezTo>
                  <a:cubicBezTo>
                    <a:pt x="2513735" y="9454"/>
                    <a:pt x="2395720" y="10724"/>
                    <a:pt x="2274828" y="8184"/>
                  </a:cubicBezTo>
                  <a:cubicBezTo>
                    <a:pt x="2214381" y="6914"/>
                    <a:pt x="2153935" y="6914"/>
                    <a:pt x="2093488" y="6914"/>
                  </a:cubicBezTo>
                  <a:cubicBezTo>
                    <a:pt x="1984109" y="6914"/>
                    <a:pt x="1874730" y="6914"/>
                    <a:pt x="1765351" y="5644"/>
                  </a:cubicBezTo>
                  <a:cubicBezTo>
                    <a:pt x="1650215" y="4374"/>
                    <a:pt x="516126" y="1834"/>
                    <a:pt x="403868" y="564"/>
                  </a:cubicBezTo>
                  <a:cubicBezTo>
                    <a:pt x="311759" y="-706"/>
                    <a:pt x="222529" y="564"/>
                    <a:pt x="130420" y="564"/>
                  </a:cubicBezTo>
                  <a:cubicBezTo>
                    <a:pt x="67095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51823"/>
                    <a:pt x="16510" y="271934"/>
                    <a:pt x="17780" y="389937"/>
                  </a:cubicBezTo>
                  <a:cubicBezTo>
                    <a:pt x="19050" y="510047"/>
                    <a:pt x="17780" y="630157"/>
                    <a:pt x="16510" y="752374"/>
                  </a:cubicBezTo>
                  <a:cubicBezTo>
                    <a:pt x="15240" y="876699"/>
                    <a:pt x="2540" y="2181054"/>
                    <a:pt x="2540" y="2305378"/>
                  </a:cubicBezTo>
                  <a:cubicBezTo>
                    <a:pt x="2540" y="2427595"/>
                    <a:pt x="1270" y="2549813"/>
                    <a:pt x="0" y="2672030"/>
                  </a:cubicBezTo>
                  <a:cubicBezTo>
                    <a:pt x="0" y="2693692"/>
                    <a:pt x="3810" y="2703852"/>
                    <a:pt x="15240" y="2708933"/>
                  </a:cubicBezTo>
                  <a:cubicBezTo>
                    <a:pt x="22860" y="2712742"/>
                    <a:pt x="31750" y="2715283"/>
                    <a:pt x="40640" y="2716552"/>
                  </a:cubicBezTo>
                  <a:cubicBezTo>
                    <a:pt x="127542" y="2721633"/>
                    <a:pt x="236921" y="2725442"/>
                    <a:pt x="346300" y="2730523"/>
                  </a:cubicBezTo>
                  <a:cubicBezTo>
                    <a:pt x="406746" y="2733063"/>
                    <a:pt x="467193" y="2738142"/>
                    <a:pt x="527639" y="2739413"/>
                  </a:cubicBezTo>
                  <a:cubicBezTo>
                    <a:pt x="628383" y="2741952"/>
                    <a:pt x="1750959" y="2743223"/>
                    <a:pt x="1851703" y="2744492"/>
                  </a:cubicBezTo>
                  <a:cubicBezTo>
                    <a:pt x="1866095" y="2744492"/>
                    <a:pt x="1880487" y="2744492"/>
                    <a:pt x="1894879" y="2744492"/>
                  </a:cubicBezTo>
                  <a:cubicBezTo>
                    <a:pt x="1963961" y="2744492"/>
                    <a:pt x="2035920" y="2743223"/>
                    <a:pt x="2105002" y="2743223"/>
                  </a:cubicBezTo>
                  <a:cubicBezTo>
                    <a:pt x="2185597" y="2743223"/>
                    <a:pt x="2263314" y="2744492"/>
                    <a:pt x="2343909" y="2744492"/>
                  </a:cubicBezTo>
                  <a:cubicBezTo>
                    <a:pt x="2461924" y="2744492"/>
                    <a:pt x="2582816" y="2744492"/>
                    <a:pt x="2700831" y="2744492"/>
                  </a:cubicBezTo>
                  <a:cubicBezTo>
                    <a:pt x="2810210" y="2744492"/>
                    <a:pt x="2919589" y="2745763"/>
                    <a:pt x="3028968" y="2747033"/>
                  </a:cubicBezTo>
                  <a:cubicBezTo>
                    <a:pt x="3077901" y="2747033"/>
                    <a:pt x="3129712" y="2748302"/>
                    <a:pt x="3178645" y="2748302"/>
                  </a:cubicBezTo>
                  <a:cubicBezTo>
                    <a:pt x="3336957" y="2747033"/>
                    <a:pt x="3492391" y="2740683"/>
                    <a:pt x="3643050" y="2740683"/>
                  </a:cubicBezTo>
                  <a:cubicBezTo>
                    <a:pt x="3646860" y="2740683"/>
                    <a:pt x="3651940" y="2738142"/>
                    <a:pt x="3655750" y="2735602"/>
                  </a:cubicBezTo>
                  <a:cubicBezTo>
                    <a:pt x="3660830" y="2731792"/>
                    <a:pt x="3663370" y="2725442"/>
                    <a:pt x="3665910" y="2722902"/>
                  </a:cubicBezTo>
                  <a:cubicBezTo>
                    <a:pt x="3667180" y="2657280"/>
                    <a:pt x="3668450" y="2568777"/>
                    <a:pt x="3669720" y="2480275"/>
                  </a:cubicBezTo>
                  <a:cubicBezTo>
                    <a:pt x="3670990" y="2343307"/>
                    <a:pt x="3681150" y="1028417"/>
                    <a:pt x="3682420" y="891449"/>
                  </a:cubicBezTo>
                  <a:cubicBezTo>
                    <a:pt x="3682420" y="809269"/>
                    <a:pt x="3683690" y="727088"/>
                    <a:pt x="3684960" y="644907"/>
                  </a:cubicBezTo>
                  <a:cubicBezTo>
                    <a:pt x="3686230" y="556405"/>
                    <a:pt x="3687500" y="467903"/>
                    <a:pt x="3690040" y="379401"/>
                  </a:cubicBezTo>
                  <a:cubicBezTo>
                    <a:pt x="3691310" y="326721"/>
                    <a:pt x="3691310" y="271934"/>
                    <a:pt x="3696390" y="219254"/>
                  </a:cubicBezTo>
                  <a:cubicBezTo>
                    <a:pt x="3701470" y="156038"/>
                    <a:pt x="3704010" y="94929"/>
                    <a:pt x="3702740" y="43744"/>
                  </a:cubicBezTo>
                  <a:cubicBezTo>
                    <a:pt x="3702740" y="37394"/>
                    <a:pt x="3698930" y="29774"/>
                    <a:pt x="3692580" y="27234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15597" y="3152424"/>
            <a:ext cx="5665298" cy="525038"/>
            <a:chOff x="0" y="0"/>
            <a:chExt cx="7553731" cy="7000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553731" cy="700051"/>
              <a:chOff x="0" y="0"/>
              <a:chExt cx="9918231" cy="91918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-564"/>
                <a:ext cx="9918555" cy="917209"/>
              </a:xfrm>
              <a:custGeom>
                <a:avLst/>
                <a:gdLst/>
                <a:ahLst/>
                <a:cxnLst/>
                <a:rect r="r" b="b" t="t" l="l"/>
                <a:pathLst>
                  <a:path h="917209" w="9918555">
                    <a:moveTo>
                      <a:pt x="9908071" y="27234"/>
                    </a:moveTo>
                    <a:cubicBezTo>
                      <a:pt x="9899182" y="23424"/>
                      <a:pt x="9890292" y="20884"/>
                      <a:pt x="9881402" y="20884"/>
                    </a:cubicBezTo>
                    <a:cubicBezTo>
                      <a:pt x="9854732" y="19614"/>
                      <a:pt x="9708793" y="19614"/>
                      <a:pt x="9543360" y="17074"/>
                    </a:cubicBezTo>
                    <a:cubicBezTo>
                      <a:pt x="9165230" y="11994"/>
                      <a:pt x="8794977" y="5644"/>
                      <a:pt x="8416846" y="3104"/>
                    </a:cubicBezTo>
                    <a:cubicBezTo>
                      <a:pt x="8109615" y="564"/>
                      <a:pt x="7810262" y="3104"/>
                      <a:pt x="7503030" y="1834"/>
                    </a:cubicBezTo>
                    <a:cubicBezTo>
                      <a:pt x="7369109" y="1834"/>
                      <a:pt x="7235188" y="-706"/>
                      <a:pt x="7101267" y="1834"/>
                    </a:cubicBezTo>
                    <a:cubicBezTo>
                      <a:pt x="6778280" y="9454"/>
                      <a:pt x="6455294" y="10724"/>
                      <a:pt x="6124430" y="8184"/>
                    </a:cubicBezTo>
                    <a:cubicBezTo>
                      <a:pt x="5958997" y="6914"/>
                      <a:pt x="5793565" y="6914"/>
                      <a:pt x="5628133" y="6914"/>
                    </a:cubicBezTo>
                    <a:cubicBezTo>
                      <a:pt x="5328779" y="6914"/>
                      <a:pt x="5029426" y="6914"/>
                      <a:pt x="4730073" y="5644"/>
                    </a:cubicBezTo>
                    <a:cubicBezTo>
                      <a:pt x="4414964" y="4374"/>
                      <a:pt x="1311142" y="1834"/>
                      <a:pt x="1003911" y="564"/>
                    </a:cubicBezTo>
                    <a:cubicBezTo>
                      <a:pt x="751824" y="-706"/>
                      <a:pt x="507615" y="564"/>
                      <a:pt x="255528" y="564"/>
                    </a:cubicBezTo>
                    <a:cubicBezTo>
                      <a:pt x="82218" y="564"/>
                      <a:pt x="33020" y="3104"/>
                      <a:pt x="5080" y="4374"/>
                    </a:cubicBezTo>
                    <a:cubicBezTo>
                      <a:pt x="3810" y="4374"/>
                      <a:pt x="2540" y="6914"/>
                      <a:pt x="0" y="8184"/>
                    </a:cubicBezTo>
                    <a:cubicBezTo>
                      <a:pt x="1270" y="20884"/>
                      <a:pt x="3810" y="33584"/>
                      <a:pt x="5080" y="46284"/>
                    </a:cubicBezTo>
                    <a:cubicBezTo>
                      <a:pt x="15240" y="91272"/>
                      <a:pt x="16510" y="127432"/>
                      <a:pt x="17780" y="162958"/>
                    </a:cubicBezTo>
                    <a:cubicBezTo>
                      <a:pt x="19050" y="199118"/>
                      <a:pt x="17780" y="235278"/>
                      <a:pt x="16510" y="272073"/>
                    </a:cubicBezTo>
                    <a:cubicBezTo>
                      <a:pt x="15240" y="309502"/>
                      <a:pt x="2540" y="702188"/>
                      <a:pt x="2540" y="739617"/>
                    </a:cubicBezTo>
                    <a:cubicBezTo>
                      <a:pt x="2540" y="776411"/>
                      <a:pt x="1270" y="813205"/>
                      <a:pt x="0" y="850000"/>
                    </a:cubicBezTo>
                    <a:cubicBezTo>
                      <a:pt x="0" y="862598"/>
                      <a:pt x="3810" y="872758"/>
                      <a:pt x="15240" y="877838"/>
                    </a:cubicBezTo>
                    <a:cubicBezTo>
                      <a:pt x="22860" y="881648"/>
                      <a:pt x="31750" y="884188"/>
                      <a:pt x="40640" y="885458"/>
                    </a:cubicBezTo>
                    <a:cubicBezTo>
                      <a:pt x="247650" y="890538"/>
                      <a:pt x="547003" y="894348"/>
                      <a:pt x="846356" y="899428"/>
                    </a:cubicBezTo>
                    <a:cubicBezTo>
                      <a:pt x="1011788" y="901968"/>
                      <a:pt x="1177221" y="907048"/>
                      <a:pt x="1342653" y="908318"/>
                    </a:cubicBezTo>
                    <a:cubicBezTo>
                      <a:pt x="1618373" y="910858"/>
                      <a:pt x="4690684" y="912128"/>
                      <a:pt x="4966404" y="913398"/>
                    </a:cubicBezTo>
                    <a:cubicBezTo>
                      <a:pt x="5005793" y="913398"/>
                      <a:pt x="5045182" y="913398"/>
                      <a:pt x="5084570" y="913398"/>
                    </a:cubicBezTo>
                    <a:cubicBezTo>
                      <a:pt x="5273635" y="913398"/>
                      <a:pt x="5470578" y="912128"/>
                      <a:pt x="5659643" y="912128"/>
                    </a:cubicBezTo>
                    <a:cubicBezTo>
                      <a:pt x="5880220" y="912128"/>
                      <a:pt x="6092918" y="913398"/>
                      <a:pt x="6313494" y="913398"/>
                    </a:cubicBezTo>
                    <a:cubicBezTo>
                      <a:pt x="6636481" y="913398"/>
                      <a:pt x="6967345" y="913398"/>
                      <a:pt x="7290332" y="913398"/>
                    </a:cubicBezTo>
                    <a:cubicBezTo>
                      <a:pt x="7589685" y="913398"/>
                      <a:pt x="7889039" y="914668"/>
                      <a:pt x="8188392" y="915938"/>
                    </a:cubicBezTo>
                    <a:cubicBezTo>
                      <a:pt x="8322313" y="915938"/>
                      <a:pt x="8464112" y="917208"/>
                      <a:pt x="8598033" y="917208"/>
                    </a:cubicBezTo>
                    <a:cubicBezTo>
                      <a:pt x="9031308" y="915938"/>
                      <a:pt x="9456705" y="909588"/>
                      <a:pt x="9858542" y="909588"/>
                    </a:cubicBezTo>
                    <a:cubicBezTo>
                      <a:pt x="9862352" y="909588"/>
                      <a:pt x="9867432" y="907048"/>
                      <a:pt x="9871242" y="904508"/>
                    </a:cubicBezTo>
                    <a:cubicBezTo>
                      <a:pt x="9876321" y="900698"/>
                      <a:pt x="9878861" y="894348"/>
                      <a:pt x="9881402" y="891808"/>
                    </a:cubicBezTo>
                    <a:cubicBezTo>
                      <a:pt x="9882671" y="845559"/>
                      <a:pt x="9883942" y="818915"/>
                      <a:pt x="9885211" y="792271"/>
                    </a:cubicBezTo>
                    <a:cubicBezTo>
                      <a:pt x="9886482" y="751035"/>
                      <a:pt x="9896642" y="355178"/>
                      <a:pt x="9897911" y="313942"/>
                    </a:cubicBezTo>
                    <a:cubicBezTo>
                      <a:pt x="9897911" y="289201"/>
                      <a:pt x="9899182" y="264460"/>
                      <a:pt x="9900452" y="239719"/>
                    </a:cubicBezTo>
                    <a:cubicBezTo>
                      <a:pt x="9901721" y="213075"/>
                      <a:pt x="9902992" y="186430"/>
                      <a:pt x="9905532" y="159786"/>
                    </a:cubicBezTo>
                    <a:cubicBezTo>
                      <a:pt x="9906802" y="143926"/>
                      <a:pt x="9906802" y="127432"/>
                      <a:pt x="9911882" y="111573"/>
                    </a:cubicBezTo>
                    <a:cubicBezTo>
                      <a:pt x="9916961" y="92541"/>
                      <a:pt x="9919502" y="74144"/>
                      <a:pt x="9918232" y="43744"/>
                    </a:cubicBezTo>
                    <a:cubicBezTo>
                      <a:pt x="9918232" y="37394"/>
                      <a:pt x="9914421" y="29774"/>
                      <a:pt x="9908071" y="27234"/>
                    </a:cubicBezTo>
                    <a:close/>
                  </a:path>
                </a:pathLst>
              </a:custGeom>
              <a:solidFill>
                <a:srgbClr val="3E4A9D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76341" y="80828"/>
              <a:ext cx="6713016" cy="47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0"/>
                </a:lnSpc>
              </a:pPr>
              <a:r>
                <a:rPr lang="en-US" b="true" sz="2300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Pengembangan Model Selanjutnya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99884" y="3088770"/>
            <a:ext cx="4804072" cy="525038"/>
            <a:chOff x="0" y="0"/>
            <a:chExt cx="6405429" cy="70005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405429" cy="700051"/>
              <a:chOff x="0" y="0"/>
              <a:chExt cx="8410483" cy="91918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-564"/>
                <a:ext cx="8410807" cy="917209"/>
              </a:xfrm>
              <a:custGeom>
                <a:avLst/>
                <a:gdLst/>
                <a:ahLst/>
                <a:cxnLst/>
                <a:rect r="r" b="b" t="t" l="l"/>
                <a:pathLst>
                  <a:path h="917209" w="8410807">
                    <a:moveTo>
                      <a:pt x="8400324" y="27234"/>
                    </a:moveTo>
                    <a:cubicBezTo>
                      <a:pt x="8391434" y="23424"/>
                      <a:pt x="8382543" y="20884"/>
                      <a:pt x="8373653" y="20884"/>
                    </a:cubicBezTo>
                    <a:cubicBezTo>
                      <a:pt x="8346984" y="19614"/>
                      <a:pt x="8223167" y="19614"/>
                      <a:pt x="8083203" y="17074"/>
                    </a:cubicBezTo>
                    <a:cubicBezTo>
                      <a:pt x="7763283" y="11994"/>
                      <a:pt x="7450028" y="5644"/>
                      <a:pt x="7130109" y="3104"/>
                    </a:cubicBezTo>
                    <a:cubicBezTo>
                      <a:pt x="6870174" y="564"/>
                      <a:pt x="6616905" y="3104"/>
                      <a:pt x="6356970" y="1834"/>
                    </a:cubicBezTo>
                    <a:cubicBezTo>
                      <a:pt x="6243665" y="1834"/>
                      <a:pt x="6130360" y="-706"/>
                      <a:pt x="6017055" y="1834"/>
                    </a:cubicBezTo>
                    <a:cubicBezTo>
                      <a:pt x="5743790" y="9454"/>
                      <a:pt x="5470526" y="10724"/>
                      <a:pt x="5190597" y="8184"/>
                    </a:cubicBezTo>
                    <a:cubicBezTo>
                      <a:pt x="5050632" y="6914"/>
                      <a:pt x="4910667" y="6914"/>
                      <a:pt x="4770702" y="6914"/>
                    </a:cubicBezTo>
                    <a:cubicBezTo>
                      <a:pt x="4517432" y="6914"/>
                      <a:pt x="4264163" y="6914"/>
                      <a:pt x="4010894" y="5644"/>
                    </a:cubicBezTo>
                    <a:cubicBezTo>
                      <a:pt x="3744294" y="4374"/>
                      <a:pt x="1118288" y="1834"/>
                      <a:pt x="858353" y="564"/>
                    </a:cubicBezTo>
                    <a:cubicBezTo>
                      <a:pt x="645074" y="-706"/>
                      <a:pt x="438459" y="564"/>
                      <a:pt x="225179" y="564"/>
                    </a:cubicBezTo>
                    <a:cubicBezTo>
                      <a:pt x="78549" y="564"/>
                      <a:pt x="33020" y="3104"/>
                      <a:pt x="5080" y="4374"/>
                    </a:cubicBezTo>
                    <a:cubicBezTo>
                      <a:pt x="3810" y="4374"/>
                      <a:pt x="2540" y="6914"/>
                      <a:pt x="0" y="8184"/>
                    </a:cubicBezTo>
                    <a:cubicBezTo>
                      <a:pt x="1270" y="20884"/>
                      <a:pt x="3810" y="33584"/>
                      <a:pt x="5080" y="46284"/>
                    </a:cubicBezTo>
                    <a:cubicBezTo>
                      <a:pt x="15240" y="91272"/>
                      <a:pt x="16510" y="127432"/>
                      <a:pt x="17780" y="162958"/>
                    </a:cubicBezTo>
                    <a:cubicBezTo>
                      <a:pt x="19050" y="199118"/>
                      <a:pt x="17780" y="235278"/>
                      <a:pt x="16510" y="272073"/>
                    </a:cubicBezTo>
                    <a:cubicBezTo>
                      <a:pt x="15240" y="309502"/>
                      <a:pt x="2540" y="702188"/>
                      <a:pt x="2540" y="739617"/>
                    </a:cubicBezTo>
                    <a:cubicBezTo>
                      <a:pt x="2540" y="776411"/>
                      <a:pt x="1270" y="813205"/>
                      <a:pt x="0" y="850000"/>
                    </a:cubicBezTo>
                    <a:cubicBezTo>
                      <a:pt x="0" y="862598"/>
                      <a:pt x="3810" y="872758"/>
                      <a:pt x="15240" y="877838"/>
                    </a:cubicBezTo>
                    <a:cubicBezTo>
                      <a:pt x="22860" y="881648"/>
                      <a:pt x="31750" y="884188"/>
                      <a:pt x="40640" y="885458"/>
                    </a:cubicBezTo>
                    <a:cubicBezTo>
                      <a:pt x="218514" y="890538"/>
                      <a:pt x="471784" y="894348"/>
                      <a:pt x="725053" y="899428"/>
                    </a:cubicBezTo>
                    <a:cubicBezTo>
                      <a:pt x="865018" y="901968"/>
                      <a:pt x="1004983" y="907048"/>
                      <a:pt x="1144948" y="908318"/>
                    </a:cubicBezTo>
                    <a:cubicBezTo>
                      <a:pt x="1378222" y="910858"/>
                      <a:pt x="3977568" y="912128"/>
                      <a:pt x="4210843" y="913398"/>
                    </a:cubicBezTo>
                    <a:cubicBezTo>
                      <a:pt x="4244168" y="913398"/>
                      <a:pt x="4277493" y="913398"/>
                      <a:pt x="4310818" y="913398"/>
                    </a:cubicBezTo>
                    <a:cubicBezTo>
                      <a:pt x="4470777" y="913398"/>
                      <a:pt x="4637402" y="912128"/>
                      <a:pt x="4797362" y="912128"/>
                    </a:cubicBezTo>
                    <a:cubicBezTo>
                      <a:pt x="4983982" y="912128"/>
                      <a:pt x="5163936" y="913398"/>
                      <a:pt x="5350556" y="913398"/>
                    </a:cubicBezTo>
                    <a:cubicBezTo>
                      <a:pt x="5623821" y="913398"/>
                      <a:pt x="5903750" y="913398"/>
                      <a:pt x="6177015" y="913398"/>
                    </a:cubicBezTo>
                    <a:cubicBezTo>
                      <a:pt x="6430284" y="913398"/>
                      <a:pt x="6683554" y="914668"/>
                      <a:pt x="6936824" y="915938"/>
                    </a:cubicBezTo>
                    <a:cubicBezTo>
                      <a:pt x="7050129" y="915938"/>
                      <a:pt x="7170099" y="917208"/>
                      <a:pt x="7283403" y="917208"/>
                    </a:cubicBezTo>
                    <a:cubicBezTo>
                      <a:pt x="7649977" y="915938"/>
                      <a:pt x="8009887" y="909588"/>
                      <a:pt x="8350793" y="909588"/>
                    </a:cubicBezTo>
                    <a:cubicBezTo>
                      <a:pt x="8354603" y="909588"/>
                      <a:pt x="8359684" y="907048"/>
                      <a:pt x="8363493" y="904508"/>
                    </a:cubicBezTo>
                    <a:cubicBezTo>
                      <a:pt x="8368574" y="900698"/>
                      <a:pt x="8371113" y="894348"/>
                      <a:pt x="8373653" y="891808"/>
                    </a:cubicBezTo>
                    <a:cubicBezTo>
                      <a:pt x="8374924" y="845559"/>
                      <a:pt x="8376193" y="818915"/>
                      <a:pt x="8377463" y="792271"/>
                    </a:cubicBezTo>
                    <a:cubicBezTo>
                      <a:pt x="8378734" y="751035"/>
                      <a:pt x="8388893" y="355178"/>
                      <a:pt x="8390163" y="313942"/>
                    </a:cubicBezTo>
                    <a:cubicBezTo>
                      <a:pt x="8390163" y="289201"/>
                      <a:pt x="8391434" y="264460"/>
                      <a:pt x="8392703" y="239719"/>
                    </a:cubicBezTo>
                    <a:cubicBezTo>
                      <a:pt x="8393974" y="213075"/>
                      <a:pt x="8395243" y="186430"/>
                      <a:pt x="8397784" y="159786"/>
                    </a:cubicBezTo>
                    <a:cubicBezTo>
                      <a:pt x="8399053" y="143926"/>
                      <a:pt x="8399053" y="127432"/>
                      <a:pt x="8404134" y="111573"/>
                    </a:cubicBezTo>
                    <a:cubicBezTo>
                      <a:pt x="8409213" y="92541"/>
                      <a:pt x="8411753" y="74144"/>
                      <a:pt x="8410484" y="43744"/>
                    </a:cubicBezTo>
                    <a:cubicBezTo>
                      <a:pt x="8410484" y="37394"/>
                      <a:pt x="8406674" y="29774"/>
                      <a:pt x="8400324" y="27234"/>
                    </a:cubicBezTo>
                    <a:close/>
                  </a:path>
                </a:pathLst>
              </a:custGeom>
              <a:solidFill>
                <a:srgbClr val="3E4A9D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03929" y="80828"/>
              <a:ext cx="5692518" cy="47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0"/>
                </a:lnSpc>
              </a:pPr>
              <a:r>
                <a:rPr lang="en-US" b="true" sz="2300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Saran untuk Aplikasi</a:t>
              </a:r>
              <a:r>
                <a:rPr lang="en-US" b="true" sz="2300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Praktis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188431" y="1610688"/>
            <a:ext cx="1191113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</a:pPr>
            <a:r>
              <a:rPr lang="en-US" b="true" sz="5000" spc="-50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SA</a:t>
            </a:r>
            <a:r>
              <a:rPr lang="en-US" b="true" sz="5000" spc="-50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RAN &amp; PENGEMBANGAN LANJUT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41071" y="1708278"/>
            <a:ext cx="1298576" cy="389020"/>
          </a:xfrm>
          <a:custGeom>
            <a:avLst/>
            <a:gdLst/>
            <a:ahLst/>
            <a:cxnLst/>
            <a:rect r="r" b="b" t="t" l="l"/>
            <a:pathLst>
              <a:path h="389020" w="1298576">
                <a:moveTo>
                  <a:pt x="0" y="0"/>
                </a:moveTo>
                <a:lnTo>
                  <a:pt x="1298576" y="0"/>
                </a:lnTo>
                <a:lnTo>
                  <a:pt x="1298576" y="389020"/>
                </a:lnTo>
                <a:lnTo>
                  <a:pt x="0" y="389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1231" r="-1573" b="-18566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37984" y="4001554"/>
            <a:ext cx="5605221" cy="343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Direkomendasikan menggunakan generator modern R (runif) yang lebih stabil untuk proyek aplikasi di masa depan.</a:t>
            </a:r>
          </a:p>
          <a:p>
            <a:pPr algn="just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Penghalusan Data Langka: Untuk kategori wilayah berfrekuensi sangat kecil, disarankan melakukan agregasi wilayah atau penghalusan probabilitas (misalnya, pendekatan Bayesian) sebelum simulasi.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52308" y="4140020"/>
            <a:ext cx="5708743" cy="27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3213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Mempertimbangkan pemodelan multivariat (hubungan antar variabel).</a:t>
            </a:r>
          </a:p>
          <a:p>
            <a:pPr algn="just" marL="453390" indent="-226695" lvl="1">
              <a:lnSpc>
                <a:spcPts val="3213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Mengintegrasikan variabel acak lain (misalnya, distribusi jenis kelamin atau status sosial ekonomi) ke dalam simulasi.</a:t>
            </a:r>
          </a:p>
          <a:p>
            <a:pPr algn="just" marL="453390" indent="-226695" lvl="1">
              <a:lnSpc>
                <a:spcPts val="3213"/>
              </a:lnSpc>
              <a:buFont typeface="Arial"/>
              <a:buChar char="•"/>
            </a:pPr>
            <a:r>
              <a:rPr lang="en-US" b="true" sz="21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Menguji metode pembangkitan alternatif (seperti Acceptance-Rejection)</a:t>
            </a:r>
          </a:p>
        </p:txBody>
      </p:sp>
      <p:sp>
        <p:nvSpPr>
          <p:cNvPr name="Freeform 23" id="23"/>
          <p:cNvSpPr/>
          <p:nvPr/>
        </p:nvSpPr>
        <p:spPr>
          <a:xfrm flipH="true" flipV="true" rot="92604">
            <a:off x="15377109" y="1725696"/>
            <a:ext cx="1298576" cy="389020"/>
          </a:xfrm>
          <a:custGeom>
            <a:avLst/>
            <a:gdLst/>
            <a:ahLst/>
            <a:cxnLst/>
            <a:rect r="r" b="b" t="t" l="l"/>
            <a:pathLst>
              <a:path h="389020" w="1298576">
                <a:moveTo>
                  <a:pt x="1298575" y="389019"/>
                </a:moveTo>
                <a:lnTo>
                  <a:pt x="0" y="389019"/>
                </a:lnTo>
                <a:lnTo>
                  <a:pt x="0" y="0"/>
                </a:lnTo>
                <a:lnTo>
                  <a:pt x="1298575" y="0"/>
                </a:lnTo>
                <a:lnTo>
                  <a:pt x="1298575" y="3890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1231" r="-1573" b="-18566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219489" y="9572951"/>
            <a:ext cx="4006089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</a:pPr>
            <a:r>
              <a:rPr lang="en-US" b="true" sz="3600" spc="-36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Terima Kasih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DAG5yyhGUdI</dc:identifier>
  <dcterms:modified xsi:type="dcterms:W3CDTF">2011-08-01T06:04:30Z</dcterms:modified>
  <cp:revision>1</cp:revision>
  <dc:title>PPT_7_RB</dc:title>
</cp:coreProperties>
</file>